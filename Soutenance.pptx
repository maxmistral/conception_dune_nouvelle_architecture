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 id="2147483657" r:id="rId2"/>
    <p:sldMasterId id="2147483654" r:id="rId3"/>
  </p:sldMasterIdLst>
  <p:notesMasterIdLst>
    <p:notesMasterId r:id="rId18"/>
  </p:notesMasterIdLst>
  <p:sldIdLst>
    <p:sldId id="266" r:id="rId4"/>
    <p:sldId id="274" r:id="rId5"/>
    <p:sldId id="522" r:id="rId6"/>
    <p:sldId id="536" r:id="rId7"/>
    <p:sldId id="528" r:id="rId8"/>
    <p:sldId id="493" r:id="rId9"/>
    <p:sldId id="531" r:id="rId10"/>
    <p:sldId id="539" r:id="rId11"/>
    <p:sldId id="540" r:id="rId12"/>
    <p:sldId id="541" r:id="rId13"/>
    <p:sldId id="538" r:id="rId14"/>
    <p:sldId id="529" r:id="rId15"/>
    <p:sldId id="535" r:id="rId16"/>
    <p:sldId id="53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B5B"/>
    <a:srgbClr val="4D4D4D"/>
    <a:srgbClr val="F0BD40"/>
    <a:srgbClr val="990000"/>
    <a:srgbClr val="5F71B1"/>
    <a:srgbClr val="FF4081"/>
    <a:srgbClr val="F5F5F5"/>
    <a:srgbClr val="3E50B4"/>
    <a:srgbClr val="303E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9776" autoAdjust="0"/>
  </p:normalViewPr>
  <p:slideViewPr>
    <p:cSldViewPr snapToGrid="0" showGuides="1">
      <p:cViewPr varScale="1">
        <p:scale>
          <a:sx n="79" d="100"/>
          <a:sy n="79" d="100"/>
        </p:scale>
        <p:origin x="1776" y="84"/>
      </p:cViewPr>
      <p:guideLst>
        <p:guide pos="3840"/>
        <p:guide orient="horz" pos="216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3E2D55-D778-AF4A-8B1C-E3ACFFEFA0CD}" type="datetimeFigureOut">
              <a:rPr lang="en-US" smtClean="0"/>
              <a:t>6/23/2022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Click to edit Master text styles</a:t>
            </a:r>
          </a:p>
          <a:p>
            <a:pPr lvl="1"/>
            <a:r>
              <a:rPr lang="de-DE"/>
              <a:t>Second level</a:t>
            </a:r>
          </a:p>
          <a:p>
            <a:pPr lvl="2"/>
            <a:r>
              <a:rPr lang="de-DE"/>
              <a:t>Third level</a:t>
            </a:r>
          </a:p>
          <a:p>
            <a:pPr lvl="3"/>
            <a:r>
              <a:rPr lang="de-DE"/>
              <a:t>Fourth level</a:t>
            </a:r>
          </a:p>
          <a:p>
            <a:pPr lvl="4"/>
            <a:r>
              <a:rPr lang="de-DE"/>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0503B6-F4CD-DE49-AB30-479371E8558D}" type="slidenum">
              <a:rPr lang="en-US" smtClean="0"/>
              <a:t>‹N°›</a:t>
            </a:fld>
            <a:endParaRPr lang="en-US"/>
          </a:p>
        </p:txBody>
      </p:sp>
    </p:spTree>
    <p:extLst>
      <p:ext uri="{BB962C8B-B14F-4D97-AF65-F5344CB8AC3E}">
        <p14:creationId xmlns:p14="http://schemas.microsoft.com/office/powerpoint/2010/main" val="8273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1</a:t>
            </a:fld>
            <a:endParaRPr lang="en-US"/>
          </a:p>
        </p:txBody>
      </p:sp>
    </p:spTree>
    <p:extLst>
      <p:ext uri="{BB962C8B-B14F-4D97-AF65-F5344CB8AC3E}">
        <p14:creationId xmlns:p14="http://schemas.microsoft.com/office/powerpoint/2010/main" val="226723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2</a:t>
            </a:fld>
            <a:endParaRPr lang="en-US"/>
          </a:p>
        </p:txBody>
      </p:sp>
    </p:spTree>
    <p:extLst>
      <p:ext uri="{BB962C8B-B14F-4D97-AF65-F5344CB8AC3E}">
        <p14:creationId xmlns:p14="http://schemas.microsoft.com/office/powerpoint/2010/main" val="1473144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dirty="0" err="1">
                <a:solidFill>
                  <a:srgbClr val="24292E"/>
                </a:solidFill>
                <a:effectLst/>
                <a:latin typeface="Arial" panose="020B0604020202020204" pitchFamily="34" charset="0"/>
                <a:ea typeface="Arial" panose="020B0604020202020204" pitchFamily="34" charset="0"/>
              </a:rPr>
              <a:t>Foosus</a:t>
            </a:r>
            <a:r>
              <a:rPr lang="fr-FR" sz="1200" dirty="0">
                <a:solidFill>
                  <a:srgbClr val="24292E"/>
                </a:solidFill>
                <a:effectLst/>
                <a:latin typeface="Arial" panose="020B0604020202020204" pitchFamily="34" charset="0"/>
                <a:ea typeface="Arial" panose="020B0604020202020204" pitchFamily="34" charset="0"/>
              </a:rPr>
              <a:t> est une start-up âgée de 3 ans, dans le secteur de l’alimentation durable. Leur objectif est de soutenir l’alimentation locale et de mettre les consommateurs en contact avec des producteurs et des artisans locaux.</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200" dirty="0">
              <a:solidFill>
                <a:srgbClr val="24292E"/>
              </a:solidFill>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dirty="0">
                <a:solidFill>
                  <a:srgbClr val="24292E"/>
                </a:solidFill>
                <a:effectLst/>
                <a:latin typeface="Arial" panose="020B0604020202020204" pitchFamily="34" charset="0"/>
                <a:ea typeface="Arial" panose="020B0604020202020204" pitchFamily="34" charset="0"/>
              </a:rPr>
              <a:t>Après plusieurs années de développement, le système d’information de </a:t>
            </a:r>
            <a:r>
              <a:rPr lang="fr-FR" sz="1200" dirty="0" err="1">
                <a:solidFill>
                  <a:srgbClr val="24292E"/>
                </a:solidFill>
                <a:effectLst/>
                <a:latin typeface="Arial" panose="020B0604020202020204" pitchFamily="34" charset="0"/>
                <a:ea typeface="Arial" panose="020B0604020202020204" pitchFamily="34" charset="0"/>
              </a:rPr>
              <a:t>Foosus</a:t>
            </a:r>
            <a:r>
              <a:rPr lang="fr-FR" sz="1200" dirty="0">
                <a:solidFill>
                  <a:srgbClr val="24292E"/>
                </a:solidFill>
                <a:effectLst/>
                <a:latin typeface="Arial" panose="020B0604020202020204" pitchFamily="34" charset="0"/>
                <a:ea typeface="Arial" panose="020B0604020202020204" pitchFamily="34" charset="0"/>
              </a:rPr>
              <a:t> présente une trop grande complexité et n'évolue plus au rythme de l'activité, risquant d'entraver leur croissance de la start-up.</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200" dirty="0">
              <a:solidFill>
                <a:srgbClr val="24292E"/>
              </a:solidFill>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200" dirty="0">
                <a:solidFill>
                  <a:srgbClr val="24292E"/>
                </a:solidFill>
                <a:effectLst/>
                <a:latin typeface="Arial" panose="020B0604020202020204" pitchFamily="34" charset="0"/>
                <a:ea typeface="Arial" panose="020B0604020202020204" pitchFamily="34" charset="0"/>
              </a:rPr>
              <a:t>Le projet </a:t>
            </a:r>
            <a:r>
              <a:rPr lang="fr-FR" sz="1200" dirty="0" err="1">
                <a:solidFill>
                  <a:srgbClr val="24292E"/>
                </a:solidFill>
                <a:effectLst/>
                <a:latin typeface="Arial" panose="020B0604020202020204" pitchFamily="34" charset="0"/>
                <a:ea typeface="Arial" panose="020B0604020202020204" pitchFamily="34" charset="0"/>
              </a:rPr>
              <a:t>Foosus</a:t>
            </a:r>
            <a:r>
              <a:rPr lang="fr-FR" sz="1200" dirty="0">
                <a:solidFill>
                  <a:srgbClr val="24292E"/>
                </a:solidFill>
                <a:effectLst/>
                <a:latin typeface="Arial" panose="020B0604020202020204" pitchFamily="34" charset="0"/>
                <a:ea typeface="Arial" panose="020B0604020202020204" pitchFamily="34" charset="0"/>
              </a:rPr>
              <a:t> de conception d’une nouvelle architecture se présente comme la création d’une nouvelle plateforme e-commerce géo-ciblée.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200" dirty="0">
              <a:solidFill>
                <a:srgbClr val="24292E"/>
              </a:solidFill>
              <a:effectLst/>
              <a:latin typeface="Arial" panose="020B0604020202020204" pitchFamily="34" charset="0"/>
              <a:ea typeface="Arial" panose="020B0604020202020204" pitchFamily="34" charset="0"/>
            </a:endParaRPr>
          </a:p>
          <a:p>
            <a:pPr marL="0" lvl="0" indent="0" algn="l" rtl="0">
              <a:spcBef>
                <a:spcPts val="0"/>
              </a:spcBef>
              <a:spcAft>
                <a:spcPts val="0"/>
              </a:spcAft>
              <a:buNone/>
            </a:pPr>
            <a:endParaRPr lang="fr-FR" dirty="0"/>
          </a:p>
          <a:p>
            <a:pPr marL="158750" indent="0" algn="just">
              <a:spcAft>
                <a:spcPts val="1200"/>
              </a:spcAft>
              <a:buNone/>
            </a:pPr>
            <a:endParaRPr lang="fr-FR" sz="1200" dirty="0">
              <a:solidFill>
                <a:srgbClr val="24292E"/>
              </a:solidFill>
              <a:effectLst/>
              <a:latin typeface="Arial" panose="020B0604020202020204" pitchFamily="34" charset="0"/>
              <a:ea typeface="Arial" panose="020B0604020202020204" pitchFamily="34" charset="0"/>
            </a:endParaRPr>
          </a:p>
          <a:p>
            <a:pPr marL="158750" indent="0" algn="just">
              <a:spcAft>
                <a:spcPts val="1200"/>
              </a:spcAft>
              <a:buNone/>
            </a:pPr>
            <a:endParaRPr lang="fr-FR" sz="1200" dirty="0">
              <a:solidFill>
                <a:srgbClr val="24292E"/>
              </a:solidFill>
              <a:effectLst/>
              <a:latin typeface="Arial" panose="020B0604020202020204" pitchFamily="34" charset="0"/>
              <a:ea typeface="Arial" panose="020B0604020202020204" pitchFamily="34" charset="0"/>
            </a:endParaRPr>
          </a:p>
          <a:p>
            <a:pPr marL="158750" indent="0" algn="just">
              <a:spcAft>
                <a:spcPts val="1200"/>
              </a:spcAft>
              <a:buNone/>
            </a:pPr>
            <a:r>
              <a:rPr lang="fr-FR" sz="1200" dirty="0">
                <a:solidFill>
                  <a:srgbClr val="24292E"/>
                </a:solidFill>
                <a:effectLst/>
                <a:latin typeface="Arial" panose="020B0604020202020204" pitchFamily="34" charset="0"/>
                <a:ea typeface="Arial" panose="020B0604020202020204" pitchFamily="34" charset="0"/>
              </a:rPr>
              <a:t>L’objectif est de créer une plateforme de e-commerce polyvalente pour faire passer l'entreprise à un niveau supérieur. L'efficacité, la flexibilité et des approches cohérentes dans la prise de décision sont nécessaires pour pouvoir concurrencer les grandes entreprises mondiales de e-commerce qui dominent le marché de l'alimentation durable. Les principaux objectifs de l'entreprise sont les suivants :</a:t>
            </a:r>
          </a:p>
          <a:p>
            <a:pPr marL="342900" lvl="0" indent="-342900" algn="just">
              <a:buFont typeface="Arial" panose="020B0604020202020204" pitchFamily="34" charset="0"/>
              <a:buChar char="-"/>
            </a:pPr>
            <a:r>
              <a:rPr lang="fr-FR" sz="1200" dirty="0">
                <a:solidFill>
                  <a:srgbClr val="24292E"/>
                </a:solidFill>
                <a:effectLst/>
                <a:latin typeface="Arial" panose="020B0604020202020204" pitchFamily="34" charset="0"/>
                <a:ea typeface="Arial" panose="020B0604020202020204" pitchFamily="34" charset="0"/>
                <a:cs typeface="Mangal" panose="02040503050203030202" pitchFamily="18" charset="0"/>
              </a:rPr>
              <a:t>La solution doit tirer parti de la géolocalisation pour relier des fournisseurs et des consommateurs et pour proposer des produits disponibles à proximité des lieux de résidence de ces derniers.</a:t>
            </a:r>
          </a:p>
          <a:p>
            <a:pPr marL="342900" lvl="0" indent="-342900" algn="just">
              <a:buFont typeface="Arial" panose="020B0604020202020204" pitchFamily="34" charset="0"/>
              <a:buChar char="-"/>
            </a:pPr>
            <a:r>
              <a:rPr lang="fr-FR" sz="1200" dirty="0">
                <a:solidFill>
                  <a:srgbClr val="24292E"/>
                </a:solidFill>
                <a:effectLst/>
                <a:latin typeface="Arial" panose="020B0604020202020204" pitchFamily="34" charset="0"/>
                <a:ea typeface="Arial" panose="020B0604020202020204" pitchFamily="34" charset="0"/>
                <a:cs typeface="Mangal" panose="02040503050203030202" pitchFamily="18" charset="0"/>
              </a:rPr>
              <a:t>L'architecture doit être évolutive pour permettre aux services de se déployer sur diverses régions à travers des villes et des pays donnés.</a:t>
            </a:r>
          </a:p>
          <a:p>
            <a:pPr marL="342900" lvl="0" indent="-342900" algn="just">
              <a:buFont typeface="Arial" panose="020B0604020202020204" pitchFamily="34" charset="0"/>
              <a:buChar char="-"/>
            </a:pPr>
            <a:r>
              <a:rPr lang="fr-FR" sz="1200" dirty="0">
                <a:solidFill>
                  <a:srgbClr val="24292E"/>
                </a:solidFill>
                <a:effectLst/>
                <a:latin typeface="Arial" panose="020B0604020202020204" pitchFamily="34" charset="0"/>
                <a:ea typeface="Arial" panose="020B0604020202020204" pitchFamily="34" charset="0"/>
                <a:cs typeface="Mangal" panose="02040503050203030202" pitchFamily="18" charset="0"/>
              </a:rPr>
              <a:t>La solution doit être disponible pour les fournisseurs et les consommateurs, où qu'ils se trouvent. Cette solution doit être utilisable avec des appareils mobiles et fixes. Elle doit tenir compte des contraintes de bande passante pour les réseaux cellulaires et les connexions Internet haut débit.</a:t>
            </a:r>
          </a:p>
          <a:p>
            <a:pPr marL="342900" lvl="0" indent="-342900" algn="just">
              <a:spcAft>
                <a:spcPts val="1200"/>
              </a:spcAft>
              <a:buFont typeface="Arial" panose="020B0604020202020204" pitchFamily="34" charset="0"/>
              <a:buChar char="-"/>
            </a:pPr>
            <a:r>
              <a:rPr lang="fr-FR" sz="1200" dirty="0">
                <a:solidFill>
                  <a:srgbClr val="24292E"/>
                </a:solidFill>
                <a:effectLst/>
                <a:latin typeface="Arial" panose="020B0604020202020204" pitchFamily="34" charset="0"/>
                <a:ea typeface="Arial" panose="020B0604020202020204" pitchFamily="34" charset="0"/>
                <a:cs typeface="Mangal" panose="02040503050203030202" pitchFamily="18" charset="0"/>
              </a:rPr>
              <a:t>La solution doit pouvoir prendre en charge différents types d'utilisateurs avec des fonctionnalités et des services spécifiques pour ces catégories.</a:t>
            </a:r>
          </a:p>
          <a:p>
            <a:pPr marL="0" lvl="0" indent="0" algn="l" rtl="0">
              <a:spcBef>
                <a:spcPts val="0"/>
              </a:spcBef>
              <a:spcAft>
                <a:spcPts val="0"/>
              </a:spcAft>
              <a:buNone/>
            </a:pPr>
            <a:endParaRPr lang="fr-FR" dirty="0"/>
          </a:p>
          <a:p>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3</a:t>
            </a:fld>
            <a:endParaRPr lang="en-US"/>
          </a:p>
        </p:txBody>
      </p:sp>
    </p:spTree>
    <p:extLst>
      <p:ext uri="{BB962C8B-B14F-4D97-AF65-F5344CB8AC3E}">
        <p14:creationId xmlns:p14="http://schemas.microsoft.com/office/powerpoint/2010/main" val="974243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
            </a:r>
          </a:p>
        </p:txBody>
      </p:sp>
      <p:sp>
        <p:nvSpPr>
          <p:cNvPr id="4" name="Slide Number Placeholder 3"/>
          <p:cNvSpPr>
            <a:spLocks noGrp="1"/>
          </p:cNvSpPr>
          <p:nvPr>
            <p:ph type="sldNum" sz="quarter" idx="10"/>
          </p:nvPr>
        </p:nvSpPr>
        <p:spPr/>
        <p:txBody>
          <a:bodyPr/>
          <a:lstStyle/>
          <a:p>
            <a:fld id="{250503B6-F4CD-DE49-AB30-479371E8558D}" type="slidenum">
              <a:rPr lang="en-US" smtClean="0"/>
              <a:t>4</a:t>
            </a:fld>
            <a:endParaRPr lang="en-US"/>
          </a:p>
        </p:txBody>
      </p:sp>
    </p:spTree>
    <p:extLst>
      <p:ext uri="{BB962C8B-B14F-4D97-AF65-F5344CB8AC3E}">
        <p14:creationId xmlns:p14="http://schemas.microsoft.com/office/powerpoint/2010/main" val="2190407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ea typeface="Arial" panose="020B0604020202020204" pitchFamily="34" charset="0"/>
              </a:rPr>
              <a:t>Les indicateurs relatif aux éléments fournis sont donc les suivants.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rPr>
              <a:t>Augmentation de 10% du nombre d’utilisateur par jour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rPr>
              <a:t>Augmenter le nombre d’adhésion de producteurs alimentaires de 1,4 par mois à 4 par mois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rPr>
              <a:t>Réduire le délai de parution moyen à moins d’une semaine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rPr>
              <a:t>Réduire le taux d’incidents par mois à moins de 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Ce </a:t>
            </a:r>
            <a:r>
              <a:rPr lang="en-US" dirty="0" err="1"/>
              <a:t>sont</a:t>
            </a:r>
            <a:r>
              <a:rPr lang="en-US" dirty="0"/>
              <a:t> </a:t>
            </a:r>
            <a:r>
              <a:rPr lang="en-US" dirty="0" err="1"/>
              <a:t>ces</a:t>
            </a:r>
            <a:r>
              <a:rPr lang="en-US" dirty="0"/>
              <a:t> </a:t>
            </a:r>
            <a:r>
              <a:rPr lang="en-US" dirty="0" err="1"/>
              <a:t>mêmes</a:t>
            </a:r>
            <a:r>
              <a:rPr lang="en-US" dirty="0"/>
              <a:t> </a:t>
            </a:r>
            <a:r>
              <a:rPr lang="en-US" dirty="0" err="1"/>
              <a:t>éléments</a:t>
            </a:r>
            <a:r>
              <a:rPr lang="en-US" dirty="0"/>
              <a:t> qui </a:t>
            </a:r>
            <a:r>
              <a:rPr lang="en-US" dirty="0" err="1"/>
              <a:t>vont</a:t>
            </a:r>
            <a:r>
              <a:rPr lang="en-US" dirty="0"/>
              <a:t> determiner la </a:t>
            </a:r>
            <a:r>
              <a:rPr lang="en-US" dirty="0" err="1"/>
              <a:t>réussite</a:t>
            </a:r>
            <a:r>
              <a:rPr lang="en-US" dirty="0"/>
              <a:t> </a:t>
            </a:r>
            <a:r>
              <a:rPr lang="en-US" dirty="0" err="1"/>
              <a:t>ou</a:t>
            </a:r>
            <a:r>
              <a:rPr lang="en-US" dirty="0"/>
              <a:t> non du </a:t>
            </a:r>
            <a:r>
              <a:rPr lang="en-US" dirty="0" err="1"/>
              <a:t>projet</a:t>
            </a:r>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5</a:t>
            </a:fld>
            <a:endParaRPr lang="en-US"/>
          </a:p>
        </p:txBody>
      </p:sp>
    </p:spTree>
    <p:extLst>
      <p:ext uri="{BB962C8B-B14F-4D97-AF65-F5344CB8AC3E}">
        <p14:creationId xmlns:p14="http://schemas.microsoft.com/office/powerpoint/2010/main" val="1956425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24292E"/>
                </a:solidFill>
                <a:effectLst/>
                <a:latin typeface="Arial" panose="020B0604020202020204" pitchFamily="34" charset="0"/>
                <a:ea typeface="Arial" panose="020B0604020202020204" pitchFamily="34" charset="0"/>
              </a:rPr>
              <a:t>La méthode de développement d’architecture TOGAF (ou ADM pour « Architecture </a:t>
            </a:r>
            <a:r>
              <a:rPr lang="fr-FR" sz="1800" dirty="0" err="1">
                <a:solidFill>
                  <a:srgbClr val="24292E"/>
                </a:solidFill>
                <a:effectLst/>
                <a:latin typeface="Arial" panose="020B0604020202020204" pitchFamily="34" charset="0"/>
                <a:ea typeface="Arial" panose="020B0604020202020204" pitchFamily="34" charset="0"/>
              </a:rPr>
              <a:t>Development</a:t>
            </a:r>
            <a:r>
              <a:rPr lang="fr-FR" sz="1800" dirty="0">
                <a:solidFill>
                  <a:srgbClr val="24292E"/>
                </a:solidFill>
                <a:effectLst/>
                <a:latin typeface="Arial" panose="020B0604020202020204" pitchFamily="34" charset="0"/>
                <a:ea typeface="Arial" panose="020B0604020202020204" pitchFamily="34" charset="0"/>
              </a:rPr>
              <a:t> Method ») décrit une méthodologie des meilleures pratiques pour le développement architectural. Néanmoins, toutes les phases ne sont pas également pertinentes pour chaque projet. Le tableau ci-dessous décrit l’utilisation de l’ADM pour ce projet spécifique.</a:t>
            </a:r>
            <a:endParaRPr lang="en-US" dirty="0"/>
          </a:p>
          <a:p>
            <a:endParaRPr lang="en-US" dirty="0"/>
          </a:p>
          <a:p>
            <a:r>
              <a:rPr lang="en-US" dirty="0"/>
              <a:t>Un document de declaration de travail </a:t>
            </a:r>
            <a:r>
              <a:rPr lang="en-US" dirty="0" err="1"/>
              <a:t>d’architecture</a:t>
            </a:r>
            <a:r>
              <a:rPr lang="en-US" dirty="0"/>
              <a:t> </a:t>
            </a:r>
            <a:r>
              <a:rPr lang="en-US" dirty="0" err="1"/>
              <a:t>décrivant</a:t>
            </a:r>
            <a:r>
              <a:rPr lang="en-US" dirty="0"/>
              <a:t> les </a:t>
            </a:r>
            <a:r>
              <a:rPr lang="en-US" dirty="0" err="1"/>
              <a:t>différentes</a:t>
            </a:r>
            <a:r>
              <a:rPr lang="en-US" dirty="0"/>
              <a:t> </a:t>
            </a:r>
            <a:r>
              <a:rPr lang="en-US" dirty="0" err="1"/>
              <a:t>activités</a:t>
            </a:r>
            <a:r>
              <a:rPr lang="en-US" dirty="0"/>
              <a:t> </a:t>
            </a:r>
            <a:r>
              <a:rPr lang="en-US" dirty="0" err="1"/>
              <a:t>requises</a:t>
            </a:r>
            <a:r>
              <a:rPr lang="en-US" dirty="0"/>
              <a:t> pour </a:t>
            </a:r>
            <a:r>
              <a:rPr lang="en-US" dirty="0" err="1"/>
              <a:t>mener</a:t>
            </a:r>
            <a:r>
              <a:rPr lang="en-US" dirty="0"/>
              <a:t> à bien </a:t>
            </a:r>
            <a:r>
              <a:rPr lang="en-US" dirty="0" err="1"/>
              <a:t>ce</a:t>
            </a:r>
            <a:r>
              <a:rPr lang="en-US" dirty="0"/>
              <a:t> </a:t>
            </a:r>
            <a:r>
              <a:rPr lang="en-US" dirty="0" err="1"/>
              <a:t>projet</a:t>
            </a:r>
            <a:r>
              <a:rPr lang="en-US" dirty="0"/>
              <a:t>, que les sorties de </a:t>
            </a:r>
            <a:r>
              <a:rPr lang="en-US" dirty="0" err="1"/>
              <a:t>ces</a:t>
            </a:r>
            <a:r>
              <a:rPr lang="en-US" dirty="0"/>
              <a:t> </a:t>
            </a:r>
            <a:r>
              <a:rPr lang="en-US" dirty="0" err="1"/>
              <a:t>activités</a:t>
            </a:r>
            <a:r>
              <a:rPr lang="en-US" dirty="0"/>
              <a:t> (</a:t>
            </a:r>
            <a:r>
              <a:rPr lang="en-US" dirty="0" err="1"/>
              <a:t>en</a:t>
            </a:r>
            <a:r>
              <a:rPr lang="en-US" dirty="0"/>
              <a:t> </a:t>
            </a:r>
            <a:r>
              <a:rPr lang="en-US" dirty="0" err="1"/>
              <a:t>quelque</a:t>
            </a:r>
            <a:r>
              <a:rPr lang="en-US" dirty="0"/>
              <a:t> </a:t>
            </a:r>
            <a:r>
              <a:rPr lang="en-US" dirty="0" err="1"/>
              <a:t>sorte</a:t>
            </a:r>
            <a:r>
              <a:rPr lang="en-US" dirty="0"/>
              <a:t> des </a:t>
            </a:r>
            <a:r>
              <a:rPr lang="en-US" dirty="0" err="1"/>
              <a:t>livrables</a:t>
            </a:r>
            <a:r>
              <a:rPr lang="en-US" dirty="0"/>
              <a:t> </a:t>
            </a:r>
            <a:r>
              <a:rPr lang="en-US" dirty="0" err="1"/>
              <a:t>attendus</a:t>
            </a:r>
            <a:r>
              <a:rPr lang="en-US" dirty="0"/>
              <a:t>) et les </a:t>
            </a:r>
            <a:r>
              <a:rPr lang="en-US" dirty="0" err="1"/>
              <a:t>rôles</a:t>
            </a:r>
            <a:r>
              <a:rPr lang="en-US" dirty="0"/>
              <a:t> des parties </a:t>
            </a:r>
            <a:r>
              <a:rPr lang="en-US" dirty="0" err="1"/>
              <a:t>prenants</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 document de </a:t>
            </a:r>
            <a:r>
              <a:rPr lang="fr-FR" dirty="0">
                <a:effectLst/>
                <a:latin typeface="Arial" panose="020B0604020202020204" pitchFamily="34" charset="0"/>
              </a:rPr>
              <a:t>Spécification des Conditions Requises pour l’Architecture </a:t>
            </a:r>
            <a:r>
              <a:rPr lang="en-US" dirty="0"/>
              <a:t>qui </a:t>
            </a:r>
            <a:r>
              <a:rPr lang="en-US" dirty="0" err="1"/>
              <a:t>va</a:t>
            </a:r>
            <a:r>
              <a:rPr lang="en-US" dirty="0"/>
              <a:t> nous </a:t>
            </a:r>
            <a:r>
              <a:rPr lang="en-US" dirty="0" err="1"/>
              <a:t>permettre</a:t>
            </a:r>
            <a:r>
              <a:rPr lang="en-US" dirty="0"/>
              <a:t> de determiner le </a:t>
            </a:r>
            <a:r>
              <a:rPr lang="en-US" dirty="0" err="1"/>
              <a:t>périmètre</a:t>
            </a:r>
            <a:r>
              <a:rPr lang="en-US" dirty="0"/>
              <a:t> de </a:t>
            </a:r>
            <a:r>
              <a:rPr lang="en-US" dirty="0" err="1"/>
              <a:t>l’architecture</a:t>
            </a:r>
            <a:r>
              <a:rPr lang="en-US" dirty="0"/>
              <a:t> </a:t>
            </a:r>
            <a:r>
              <a:rPr lang="en-US" dirty="0" err="1"/>
              <a:t>ainsi</a:t>
            </a:r>
            <a:r>
              <a:rPr lang="en-US" dirty="0"/>
              <a:t> que les conditions à respecter pour la conception et mise </a:t>
            </a:r>
            <a:r>
              <a:rPr lang="en-US" dirty="0" err="1"/>
              <a:t>en</a:t>
            </a:r>
            <a:r>
              <a:rPr lang="en-US" dirty="0"/>
              <a:t> place des divers </a:t>
            </a:r>
            <a:r>
              <a:rPr lang="en-US" dirty="0" err="1"/>
              <a:t>composants</a:t>
            </a:r>
            <a:r>
              <a:rPr lang="en-US" dirty="0"/>
              <a:t> </a:t>
            </a:r>
            <a:r>
              <a:rPr lang="en-US" dirty="0" err="1"/>
              <a:t>comme</a:t>
            </a:r>
            <a:r>
              <a:rPr lang="en-US" dirty="0"/>
              <a:t> </a:t>
            </a:r>
            <a:r>
              <a:rPr lang="en-US" dirty="0" err="1"/>
              <a:t>l’interopérabilité</a:t>
            </a:r>
            <a:r>
              <a:rPr lang="en-US" dirty="0"/>
              <a:t>, par </a:t>
            </a:r>
            <a:r>
              <a:rPr lang="en-US" dirty="0" err="1"/>
              <a:t>exemple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 </a:t>
            </a:r>
            <a:r>
              <a:rPr lang="fr-FR" dirty="0">
                <a:effectLst/>
                <a:latin typeface="Arial" panose="020B0604020202020204" pitchFamily="34" charset="0"/>
              </a:rPr>
              <a:t>Contrat d’Architecture avec les Utilisateurs Business qui défini les accords communs </a:t>
            </a:r>
            <a:r>
              <a:rPr lang="fr-FR" dirty="0"/>
              <a:t>entre les partenaires de développement et les sponsors sur les livrables, mais qui permet aussi de définir la qualité attendue, les parties prenants et les métriques business permettant de valider la réussite du projet côté business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effectLst/>
                <a:latin typeface="Arial" panose="020B0604020202020204" pitchFamily="34" charset="0"/>
              </a:rPr>
              <a:t>Un Contrat d’Architecture avec les Fonctions Développement et Design définissant les éléments technique validant la réussite du projet côté service IT. </a:t>
            </a:r>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6</a:t>
            </a:fld>
            <a:endParaRPr lang="en-US"/>
          </a:p>
        </p:txBody>
      </p:sp>
    </p:spTree>
    <p:extLst>
      <p:ext uri="{BB962C8B-B14F-4D97-AF65-F5344CB8AC3E}">
        <p14:creationId xmlns:p14="http://schemas.microsoft.com/office/powerpoint/2010/main" val="3207426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Micro-Service pour </a:t>
            </a:r>
            <a:r>
              <a:rPr lang="en-US" dirty="0" err="1"/>
              <a:t>plusieurs</a:t>
            </a:r>
            <a:r>
              <a:rPr lang="en-US" dirty="0"/>
              <a:t> raisons : </a:t>
            </a:r>
          </a:p>
          <a:p>
            <a:endParaRPr lang="en-US" dirty="0"/>
          </a:p>
          <a:p>
            <a:pPr marL="171450" indent="-171450">
              <a:buFontTx/>
              <a:buChar char="-"/>
            </a:pPr>
            <a:r>
              <a:rPr lang="en-US" dirty="0" err="1"/>
              <a:t>Scalabilité</a:t>
            </a:r>
            <a:r>
              <a:rPr lang="en-US" dirty="0"/>
              <a:t> (il </a:t>
            </a:r>
            <a:r>
              <a:rPr lang="en-US" dirty="0" err="1"/>
              <a:t>est</a:t>
            </a:r>
            <a:r>
              <a:rPr lang="en-US" dirty="0"/>
              <a:t> possible de </a:t>
            </a:r>
            <a:r>
              <a:rPr lang="en-US" dirty="0" err="1"/>
              <a:t>gérer</a:t>
            </a:r>
            <a:r>
              <a:rPr lang="en-US" dirty="0"/>
              <a:t> </a:t>
            </a:r>
            <a:r>
              <a:rPr lang="en-US" dirty="0" err="1"/>
              <a:t>efficacement</a:t>
            </a:r>
            <a:r>
              <a:rPr lang="en-US" dirty="0"/>
              <a:t> et </a:t>
            </a:r>
            <a:r>
              <a:rPr lang="en-US" dirty="0" err="1"/>
              <a:t>simplement</a:t>
            </a:r>
            <a:r>
              <a:rPr lang="en-US" dirty="0"/>
              <a:t> la </a:t>
            </a:r>
            <a:r>
              <a:rPr lang="en-US" dirty="0" err="1"/>
              <a:t>monté</a:t>
            </a:r>
            <a:r>
              <a:rPr lang="en-US" dirty="0"/>
              <a:t> </a:t>
            </a:r>
            <a:r>
              <a:rPr lang="en-US" dirty="0" err="1"/>
              <a:t>en</a:t>
            </a:r>
            <a:r>
              <a:rPr lang="en-US" dirty="0"/>
              <a:t> charge d’un service </a:t>
            </a:r>
            <a:r>
              <a:rPr lang="en-US" dirty="0" err="1"/>
              <a:t>en</a:t>
            </a:r>
            <a:r>
              <a:rPr lang="en-US" dirty="0"/>
              <a:t> </a:t>
            </a:r>
            <a:r>
              <a:rPr lang="en-US" dirty="0" err="1"/>
              <a:t>utilisant</a:t>
            </a:r>
            <a:r>
              <a:rPr lang="en-US" dirty="0"/>
              <a:t> </a:t>
            </a:r>
            <a:r>
              <a:rPr lang="en-US" dirty="0" err="1"/>
              <a:t>une</a:t>
            </a:r>
            <a:r>
              <a:rPr lang="en-US" dirty="0"/>
              <a:t> </a:t>
            </a:r>
            <a:r>
              <a:rPr lang="en-US" dirty="0" err="1"/>
              <a:t>technologie</a:t>
            </a:r>
            <a:r>
              <a:rPr lang="en-US" dirty="0"/>
              <a:t> de cube </a:t>
            </a:r>
            <a:r>
              <a:rPr lang="en-US" dirty="0" err="1"/>
              <a:t>tel</a:t>
            </a:r>
            <a:r>
              <a:rPr lang="en-US" dirty="0"/>
              <a:t> que docker avec un </a:t>
            </a:r>
            <a:r>
              <a:rPr lang="en-US" dirty="0" err="1"/>
              <a:t>orchestrateur</a:t>
            </a:r>
            <a:r>
              <a:rPr lang="en-US" dirty="0"/>
              <a:t> </a:t>
            </a:r>
            <a:r>
              <a:rPr lang="fr-FR" dirty="0" err="1"/>
              <a:t>Kubernetes</a:t>
            </a:r>
            <a:r>
              <a:rPr lang="fr-FR" dirty="0"/>
              <a:t> par exemple.</a:t>
            </a:r>
            <a:endParaRPr lang="en-US" dirty="0"/>
          </a:p>
          <a:p>
            <a:pPr marL="171450" indent="-171450">
              <a:buFontTx/>
              <a:buChar char="-"/>
            </a:pPr>
            <a:r>
              <a:rPr lang="en-US" dirty="0" err="1"/>
              <a:t>Simplicité</a:t>
            </a:r>
            <a:r>
              <a:rPr lang="en-US" dirty="0"/>
              <a:t> de </a:t>
            </a:r>
            <a:r>
              <a:rPr lang="en-US" dirty="0" err="1"/>
              <a:t>déploiement</a:t>
            </a:r>
            <a:r>
              <a:rPr lang="en-US" dirty="0"/>
              <a:t> (</a:t>
            </a:r>
            <a:r>
              <a:rPr lang="en-US" dirty="0" err="1"/>
              <a:t>chaque</a:t>
            </a:r>
            <a:r>
              <a:rPr lang="en-US" dirty="0"/>
              <a:t> service </a:t>
            </a:r>
            <a:r>
              <a:rPr lang="en-US" dirty="0" err="1"/>
              <a:t>fonctionne</a:t>
            </a:r>
            <a:r>
              <a:rPr lang="en-US" dirty="0"/>
              <a:t> </a:t>
            </a:r>
            <a:r>
              <a:rPr lang="en-US" dirty="0" err="1"/>
              <a:t>indépendament</a:t>
            </a:r>
            <a:r>
              <a:rPr lang="en-US" dirty="0"/>
              <a:t> d’un </a:t>
            </a:r>
            <a:r>
              <a:rPr lang="en-US" dirty="0" err="1"/>
              <a:t>autre</a:t>
            </a:r>
            <a:r>
              <a:rPr lang="en-US" dirty="0"/>
              <a:t>).</a:t>
            </a:r>
          </a:p>
          <a:p>
            <a:pPr marL="171450" indent="-171450">
              <a:buFontTx/>
              <a:buChar char="-"/>
            </a:pPr>
            <a:r>
              <a:rPr lang="en-US" dirty="0" err="1"/>
              <a:t>Simplicité</a:t>
            </a:r>
            <a:r>
              <a:rPr lang="en-US" dirty="0"/>
              <a:t> de maintenance.</a:t>
            </a:r>
          </a:p>
          <a:p>
            <a:pPr marL="171450" indent="-171450">
              <a:buFontTx/>
              <a:buChar char="-"/>
            </a:pPr>
            <a:r>
              <a:rPr lang="en-US" dirty="0" err="1"/>
              <a:t>Possibilité</a:t>
            </a:r>
            <a:r>
              <a:rPr lang="en-US" dirty="0"/>
              <a:t> de deployer des services que dans </a:t>
            </a:r>
            <a:r>
              <a:rPr lang="en-US" dirty="0" err="1"/>
              <a:t>certaines</a:t>
            </a:r>
            <a:r>
              <a:rPr lang="en-US" dirty="0"/>
              <a:t> </a:t>
            </a:r>
            <a:r>
              <a:rPr lang="en-US" dirty="0" err="1"/>
              <a:t>régions</a:t>
            </a: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7</a:t>
            </a:fld>
            <a:endParaRPr lang="en-US"/>
          </a:p>
        </p:txBody>
      </p:sp>
    </p:spTree>
    <p:extLst>
      <p:ext uri="{BB962C8B-B14F-4D97-AF65-F5344CB8AC3E}">
        <p14:creationId xmlns:p14="http://schemas.microsoft.com/office/powerpoint/2010/main" val="3345768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ce qui est de la fonction de localisation, nous utiliserons sans hésiter Google </a:t>
            </a:r>
            <a:r>
              <a:rPr lang="fr-FR" dirty="0" err="1"/>
              <a:t>Map</a:t>
            </a:r>
            <a:r>
              <a:rPr lang="fr-FR" dirty="0"/>
              <a:t> API pour l’implémentation de cette fonctionnalité au sein de la plateforme. </a:t>
            </a: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8</a:t>
            </a:fld>
            <a:endParaRPr lang="en-US"/>
          </a:p>
        </p:txBody>
      </p:sp>
    </p:spTree>
    <p:extLst>
      <p:ext uri="{BB962C8B-B14F-4D97-AF65-F5344CB8AC3E}">
        <p14:creationId xmlns:p14="http://schemas.microsoft.com/office/powerpoint/2010/main" val="205049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9</a:t>
            </a:fld>
            <a:endParaRPr lang="en-US"/>
          </a:p>
        </p:txBody>
      </p:sp>
    </p:spTree>
    <p:extLst>
      <p:ext uri="{BB962C8B-B14F-4D97-AF65-F5344CB8AC3E}">
        <p14:creationId xmlns:p14="http://schemas.microsoft.com/office/powerpoint/2010/main" val="3376602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10</a:t>
            </a:fld>
            <a:endParaRPr lang="en-US"/>
          </a:p>
        </p:txBody>
      </p:sp>
    </p:spTree>
    <p:extLst>
      <p:ext uri="{BB962C8B-B14F-4D97-AF65-F5344CB8AC3E}">
        <p14:creationId xmlns:p14="http://schemas.microsoft.com/office/powerpoint/2010/main" val="1083819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dirty="0">
                <a:solidFill>
                  <a:srgbClr val="000000"/>
                </a:solidFill>
                <a:effectLst/>
                <a:latin typeface="Calibri" panose="020F0502020204030204" pitchFamily="34" charset="0"/>
              </a:rPr>
              <a:t>On a d’abord les conditions requises business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i="0" u="none" strike="noStrike" dirty="0">
              <a:solidFill>
                <a:srgbClr val="000000"/>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dirty="0">
                <a:solidFill>
                  <a:srgbClr val="000000"/>
                </a:solidFill>
                <a:effectLst/>
                <a:latin typeface="Calibri" panose="020F0502020204030204" pitchFamily="34" charset="0"/>
              </a:rPr>
              <a:t>Tirer profit de la géolocalisation</a:t>
            </a:r>
            <a:r>
              <a:rPr lang="fr-FR" dirty="0"/>
              <a:t> pour &gt;</a:t>
            </a:r>
            <a:r>
              <a:rPr lang="fr-FR" sz="1800" b="0" i="0" u="none" strike="noStrike" dirty="0">
                <a:solidFill>
                  <a:srgbClr val="000000"/>
                </a:solidFill>
                <a:effectLst/>
                <a:latin typeface="Calibri" panose="020F0502020204030204" pitchFamily="34" charset="0"/>
              </a:rPr>
              <a:t>Relier des fournisseurs et des consommateurs et pour proposer des produits disponibles à proximité des lieux de résidence de ces derniers.</a:t>
            </a:r>
            <a:r>
              <a:rPr lang="fr-FR"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dirty="0">
                <a:solidFill>
                  <a:srgbClr val="000000"/>
                </a:solidFill>
                <a:effectLst/>
                <a:latin typeface="Calibri" panose="020F0502020204030204" pitchFamily="34" charset="0"/>
              </a:rPr>
              <a:t>Architecture évolutive</a:t>
            </a:r>
            <a:r>
              <a:rPr lang="fr-FR" dirty="0"/>
              <a:t> pour &gt; </a:t>
            </a:r>
            <a:r>
              <a:rPr lang="fr-FR" sz="1800" b="0" i="0" u="none" strike="noStrike" dirty="0">
                <a:solidFill>
                  <a:srgbClr val="000000"/>
                </a:solidFill>
                <a:effectLst/>
                <a:latin typeface="Calibri" panose="020F0502020204030204" pitchFamily="34" charset="0"/>
              </a:rPr>
              <a:t>Permettre aux services de se déployer sur diverses régions à travers des villes et des pays donnés.</a:t>
            </a:r>
            <a:r>
              <a:rPr lang="fr-FR"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dirty="0">
                <a:solidFill>
                  <a:srgbClr val="000000"/>
                </a:solidFill>
                <a:effectLst/>
                <a:latin typeface="Calibri" panose="020F0502020204030204" pitchFamily="34" charset="0"/>
              </a:rPr>
              <a:t>Disponibilité qu'importe l'emplacement de l'utilisateur sur appareils mobiles et fixes</a:t>
            </a:r>
            <a:r>
              <a:rPr lang="fr-FR" dirty="0"/>
              <a:t> afin &gt; d’</a:t>
            </a:r>
            <a:r>
              <a:rPr lang="fr-FR" sz="1800" b="0" i="0" u="none" strike="noStrike" dirty="0">
                <a:solidFill>
                  <a:srgbClr val="000000"/>
                </a:solidFill>
                <a:effectLst/>
                <a:latin typeface="Calibri" panose="020F0502020204030204" pitchFamily="34" charset="0"/>
              </a:rPr>
              <a:t>Assurer une haute disponibilité de la plateforme et attirer davantage d'utilisateurs.</a:t>
            </a:r>
            <a:r>
              <a:rPr lang="fr-FR" dirty="0"/>
              <a:t> </a:t>
            </a:r>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11</a:t>
            </a:fld>
            <a:endParaRPr lang="en-US"/>
          </a:p>
        </p:txBody>
      </p:sp>
    </p:spTree>
    <p:extLst>
      <p:ext uri="{BB962C8B-B14F-4D97-AF65-F5344CB8AC3E}">
        <p14:creationId xmlns:p14="http://schemas.microsoft.com/office/powerpoint/2010/main" val="1822915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L’objectif</a:t>
            </a:r>
            <a:r>
              <a:rPr lang="en-US" dirty="0"/>
              <a:t> </a:t>
            </a:r>
            <a:r>
              <a:rPr lang="en-US" dirty="0" err="1"/>
              <a:t>étant</a:t>
            </a:r>
            <a:r>
              <a:rPr lang="en-US" dirty="0"/>
              <a:t> que les conditions </a:t>
            </a:r>
            <a:r>
              <a:rPr lang="en-US" dirty="0" err="1"/>
              <a:t>requises</a:t>
            </a:r>
            <a:r>
              <a:rPr lang="en-US" dirty="0"/>
              <a:t> pour </a:t>
            </a:r>
            <a:r>
              <a:rPr lang="en-US" dirty="0" err="1"/>
              <a:t>cette</a:t>
            </a:r>
            <a:r>
              <a:rPr lang="en-US" dirty="0"/>
              <a:t> architectures </a:t>
            </a:r>
            <a:r>
              <a:rPr lang="en-US" dirty="0" err="1"/>
              <a:t>soient</a:t>
            </a:r>
            <a:r>
              <a:rPr lang="en-US" dirty="0"/>
              <a:t> </a:t>
            </a:r>
            <a:r>
              <a:rPr lang="en-US" dirty="0" err="1"/>
              <a:t>réutilisable</a:t>
            </a:r>
            <a:r>
              <a:rPr lang="en-US" dirty="0"/>
              <a:t> pour les </a:t>
            </a:r>
            <a:r>
              <a:rPr lang="en-US" dirty="0" err="1"/>
              <a:t>futurs</a:t>
            </a:r>
            <a:r>
              <a:rPr lang="en-US" dirty="0"/>
              <a:t> </a:t>
            </a:r>
            <a:r>
              <a:rPr lang="en-US" dirty="0" err="1"/>
              <a:t>projets</a:t>
            </a:r>
            <a:r>
              <a:rPr lang="en-US" dirty="0"/>
              <a:t> de </a:t>
            </a:r>
            <a:r>
              <a:rPr lang="en-US" dirty="0" err="1"/>
              <a:t>Foosus</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0" dirty="0">
                <a:solidFill>
                  <a:srgbClr val="24292E"/>
                </a:solidFill>
                <a:effectLst/>
                <a:latin typeface="Arial" panose="020B0604020202020204" pitchFamily="34" charset="0"/>
              </a:rPr>
              <a:t>Conditions requises pour le management du service IT</a:t>
            </a:r>
            <a:endParaRPr lang="fr-FR" sz="1800" b="1" kern="0" dirty="0">
              <a:effectLst/>
              <a:latin typeface="Arial" panose="020B0604020202020204" pitchFamily="34"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ea typeface="Arial" panose="020B0604020202020204" pitchFamily="34" charset="0"/>
              </a:rPr>
              <a:t>il est nécessaire de définir et documenter :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Le champ d’application et la charge de travail associés à l’activité.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 découpage de l’activité en différents jalons et, si nécessaire, en différents micro-services.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Les diagrammes d’architecture associés. - Les logs d’activités et le suivi de la progression. - Les résultats des tests.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La conformité avec le cahier des charges.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Les éventuels écarts avec les standards d’implémentations et les procédures standardisés mises en place par </a:t>
            </a:r>
            <a:r>
              <a:rPr lang="fr-FR" sz="1800" dirty="0" err="1">
                <a:effectLst/>
                <a:latin typeface="Arial" panose="020B0604020202020204" pitchFamily="34" charset="0"/>
                <a:ea typeface="Arial" panose="020B0604020202020204" pitchFamily="34" charset="0"/>
              </a:rPr>
              <a:t>Foosus</a:t>
            </a:r>
            <a:r>
              <a:rPr lang="fr-FR" sz="1800" dirty="0">
                <a:effectLst/>
                <a:latin typeface="Arial" panose="020B0604020202020204" pitchFamily="34" charset="0"/>
                <a:ea typeface="Arial" panose="020B0604020202020204" pitchFamily="34" charset="0"/>
              </a:rPr>
              <a:t>.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Les informations relatives à l’activité telles que les dates clés et les ressources impliquées</a:t>
            </a:r>
          </a:p>
          <a:p>
            <a:endParaRPr lang="en-US" dirty="0"/>
          </a:p>
          <a:p>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12</a:t>
            </a:fld>
            <a:endParaRPr lang="en-US"/>
          </a:p>
        </p:txBody>
      </p:sp>
    </p:spTree>
    <p:extLst>
      <p:ext uri="{BB962C8B-B14F-4D97-AF65-F5344CB8AC3E}">
        <p14:creationId xmlns:p14="http://schemas.microsoft.com/office/powerpoint/2010/main" val="2250568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L’objectif</a:t>
            </a:r>
            <a:r>
              <a:rPr lang="en-US" dirty="0"/>
              <a:t> </a:t>
            </a:r>
            <a:r>
              <a:rPr lang="en-US" dirty="0" err="1"/>
              <a:t>étant</a:t>
            </a:r>
            <a:r>
              <a:rPr lang="en-US" dirty="0"/>
              <a:t> que les conditions </a:t>
            </a:r>
            <a:r>
              <a:rPr lang="en-US" dirty="0" err="1"/>
              <a:t>requises</a:t>
            </a:r>
            <a:r>
              <a:rPr lang="en-US" dirty="0"/>
              <a:t> pour </a:t>
            </a:r>
            <a:r>
              <a:rPr lang="en-US" dirty="0" err="1"/>
              <a:t>cette</a:t>
            </a:r>
            <a:r>
              <a:rPr lang="en-US" dirty="0"/>
              <a:t> architectures </a:t>
            </a:r>
            <a:r>
              <a:rPr lang="en-US" dirty="0" err="1"/>
              <a:t>soient</a:t>
            </a:r>
            <a:r>
              <a:rPr lang="en-US" dirty="0"/>
              <a:t> </a:t>
            </a:r>
            <a:r>
              <a:rPr lang="en-US" dirty="0" err="1"/>
              <a:t>réutilisable</a:t>
            </a:r>
            <a:r>
              <a:rPr lang="en-US" dirty="0"/>
              <a:t> pour les </a:t>
            </a:r>
            <a:r>
              <a:rPr lang="en-US" dirty="0" err="1"/>
              <a:t>futurs</a:t>
            </a:r>
            <a:r>
              <a:rPr lang="en-US" dirty="0"/>
              <a:t> </a:t>
            </a:r>
            <a:r>
              <a:rPr lang="en-US" dirty="0" err="1"/>
              <a:t>projets</a:t>
            </a:r>
            <a:r>
              <a:rPr lang="en-US" dirty="0"/>
              <a:t> de </a:t>
            </a:r>
            <a:r>
              <a:rPr lang="en-US" dirty="0" err="1"/>
              <a:t>Foosus</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kern="0" dirty="0">
                <a:solidFill>
                  <a:srgbClr val="24292E"/>
                </a:solidFill>
                <a:effectLst/>
                <a:latin typeface="Arial" panose="020B0604020202020204" pitchFamily="34" charset="0"/>
              </a:rPr>
              <a:t>Conditions requises pour le management du service IT</a:t>
            </a:r>
            <a:endParaRPr lang="fr-FR" sz="1800" b="1" kern="0" dirty="0">
              <a:effectLst/>
              <a:latin typeface="Arial" panose="020B0604020202020204" pitchFamily="34"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ea typeface="Arial" panose="020B0604020202020204" pitchFamily="34" charset="0"/>
              </a:rPr>
              <a:t>il est nécessaire de définir et documenter :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Le champ d’application et la charge de travail associés à l’activité.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 découpage de l’activité en différents jalons et, si nécessaire, en différents micro-services.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Les diagrammes d’architecture associés. - Les logs d’activités et le suivi de la progression. - Les résultats des tests.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La conformité avec le cahier des charges.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Les éventuels écarts avec les standards d’implémentations et les procédures standardisés mises en place par </a:t>
            </a:r>
            <a:r>
              <a:rPr lang="fr-FR" sz="1800" dirty="0" err="1">
                <a:effectLst/>
                <a:latin typeface="Arial" panose="020B0604020202020204" pitchFamily="34" charset="0"/>
                <a:ea typeface="Arial" panose="020B0604020202020204" pitchFamily="34" charset="0"/>
              </a:rPr>
              <a:t>Foosus</a:t>
            </a:r>
            <a:r>
              <a:rPr lang="fr-FR" sz="1800" dirty="0">
                <a:effectLst/>
                <a:latin typeface="Arial" panose="020B0604020202020204" pitchFamily="34" charset="0"/>
                <a:ea typeface="Arial" panose="020B0604020202020204" pitchFamily="34" charset="0"/>
              </a:rPr>
              <a:t>.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Arial" panose="020B0604020202020204" pitchFamily="34" charset="0"/>
                <a:ea typeface="Arial" panose="020B0604020202020204" pitchFamily="34" charset="0"/>
              </a:rPr>
              <a:t>- Les informations relatives à l’activité telles que les dates clés et les ressources impliquées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dirty="0">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dirty="0">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Arial" panose="020B0604020202020204" pitchFamily="34" charset="0"/>
                <a:ea typeface="Arial" panose="020B0604020202020204" pitchFamily="34" charset="0"/>
              </a:rPr>
              <a:t>L’implémentation de la plateforme ou d’une mise à jour de celle-ci doit s’effectuer en respectant certains standards DevOps. Dans notre cas, notre process d’implémentation doit s’inscrire dans une approche d’intégration et de déploiement continu comme visible sur le schéma ci-dessous.</a:t>
            </a:r>
          </a:p>
          <a:p>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13</a:t>
            </a:fld>
            <a:endParaRPr lang="en-US"/>
          </a:p>
        </p:txBody>
      </p:sp>
    </p:spTree>
    <p:extLst>
      <p:ext uri="{BB962C8B-B14F-4D97-AF65-F5344CB8AC3E}">
        <p14:creationId xmlns:p14="http://schemas.microsoft.com/office/powerpoint/2010/main" val="850824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503B6-F4CD-DE49-AB30-479371E8558D}" type="slidenum">
              <a:rPr lang="en-US" smtClean="0"/>
              <a:t>14</a:t>
            </a:fld>
            <a:endParaRPr lang="en-US"/>
          </a:p>
        </p:txBody>
      </p:sp>
    </p:spTree>
    <p:extLst>
      <p:ext uri="{BB962C8B-B14F-4D97-AF65-F5344CB8AC3E}">
        <p14:creationId xmlns:p14="http://schemas.microsoft.com/office/powerpoint/2010/main" val="2229280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48650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Section 1">
    <p:bg>
      <p:bgRef idx="1001">
        <a:schemeClr val="bg1"/>
      </p:bgRef>
    </p:bg>
    <p:spTree>
      <p:nvGrpSpPr>
        <p:cNvPr id="1" name=""/>
        <p:cNvGrpSpPr/>
        <p:nvPr/>
      </p:nvGrpSpPr>
      <p:grpSpPr>
        <a:xfrm>
          <a:off x="0" y="0"/>
          <a:ext cx="0" cy="0"/>
          <a:chOff x="0" y="0"/>
          <a:chExt cx="0" cy="0"/>
        </a:xfrm>
      </p:grpSpPr>
      <p:sp>
        <p:nvSpPr>
          <p:cNvPr id="8" name="Title 1"/>
          <p:cNvSpPr>
            <a:spLocks noGrp="1"/>
          </p:cNvSpPr>
          <p:nvPr>
            <p:ph type="title"/>
          </p:nvPr>
        </p:nvSpPr>
        <p:spPr>
          <a:xfrm>
            <a:off x="526941" y="573317"/>
            <a:ext cx="11230421" cy="431020"/>
          </a:xfrm>
          <a:prstGeom prst="rect">
            <a:avLst/>
          </a:prstGeom>
        </p:spPr>
        <p:txBody>
          <a:bodyPr/>
          <a:lstStyle>
            <a:lvl1pPr algn="l">
              <a:defRPr sz="2400" b="0" i="0">
                <a:solidFill>
                  <a:schemeClr val="bg1"/>
                </a:solidFill>
                <a:latin typeface="Roboto Medium" charset="0"/>
                <a:ea typeface="Roboto Medium" charset="0"/>
                <a:cs typeface="Roboto Medium" charset="0"/>
              </a:defRPr>
            </a:lvl1pPr>
          </a:lstStyle>
          <a:p>
            <a:r>
              <a:rPr lang="en-US" dirty="0"/>
              <a:t>Click to edit Master title style</a:t>
            </a:r>
          </a:p>
        </p:txBody>
      </p:sp>
      <p:sp>
        <p:nvSpPr>
          <p:cNvPr id="2" name="TextBox 1"/>
          <p:cNvSpPr txBox="1"/>
          <p:nvPr userDrawn="1"/>
        </p:nvSpPr>
        <p:spPr>
          <a:xfrm>
            <a:off x="526941" y="1232607"/>
            <a:ext cx="1843280" cy="246221"/>
          </a:xfrm>
          <a:prstGeom prst="rect">
            <a:avLst/>
          </a:prstGeom>
          <a:noFill/>
        </p:spPr>
        <p:txBody>
          <a:bodyPr wrap="square" rtlCol="0">
            <a:spAutoFit/>
          </a:bodyPr>
          <a:lstStyle/>
          <a:p>
            <a:pPr algn="ctr"/>
            <a:r>
              <a:rPr lang="en-US" sz="1000" spc="160" dirty="0">
                <a:solidFill>
                  <a:schemeClr val="bg1"/>
                </a:solidFill>
                <a:latin typeface="Noto Sans" charset="0"/>
                <a:ea typeface="Noto Sans" charset="0"/>
                <a:cs typeface="Noto Sans" charset="0"/>
              </a:rPr>
              <a:t>OUR</a:t>
            </a:r>
            <a:r>
              <a:rPr lang="en-US" sz="1000" spc="160" baseline="0" dirty="0">
                <a:solidFill>
                  <a:schemeClr val="bg1"/>
                </a:solidFill>
                <a:latin typeface="Noto Sans" charset="0"/>
                <a:ea typeface="Noto Sans" charset="0"/>
                <a:cs typeface="Noto Sans" charset="0"/>
              </a:rPr>
              <a:t> COMPANY</a:t>
            </a:r>
            <a:endParaRPr lang="en-US" sz="1000" spc="160" dirty="0">
              <a:solidFill>
                <a:schemeClr val="bg1"/>
              </a:solidFill>
              <a:latin typeface="Noto Sans" charset="0"/>
              <a:ea typeface="Noto Sans" charset="0"/>
              <a:cs typeface="Noto Sans" charset="0"/>
            </a:endParaRPr>
          </a:p>
        </p:txBody>
      </p:sp>
      <p:cxnSp>
        <p:nvCxnSpPr>
          <p:cNvPr id="6" name="Straight Connector 5"/>
          <p:cNvCxnSpPr/>
          <p:nvPr userDrawn="1"/>
        </p:nvCxnSpPr>
        <p:spPr>
          <a:xfrm>
            <a:off x="526941" y="1602414"/>
            <a:ext cx="1843280"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a:xfrm>
            <a:off x="2604393" y="1232607"/>
            <a:ext cx="1843280" cy="246221"/>
          </a:xfrm>
          <a:prstGeom prst="rect">
            <a:avLst/>
          </a:prstGeom>
          <a:noFill/>
        </p:spPr>
        <p:txBody>
          <a:bodyPr wrap="square" rtlCol="0">
            <a:spAutoFit/>
          </a:bodyPr>
          <a:lstStyle/>
          <a:p>
            <a:pPr algn="ctr"/>
            <a:r>
              <a:rPr lang="en-US" sz="1000" spc="160" dirty="0">
                <a:solidFill>
                  <a:schemeClr val="accent3">
                    <a:lumMod val="60000"/>
                    <a:lumOff val="40000"/>
                  </a:schemeClr>
                </a:solidFill>
                <a:latin typeface="Noto Sans" charset="0"/>
                <a:ea typeface="Noto Sans" charset="0"/>
                <a:cs typeface="Noto Sans" charset="0"/>
              </a:rPr>
              <a:t>ABOUT</a:t>
            </a:r>
            <a:r>
              <a:rPr lang="en-US" sz="1000" spc="160" baseline="0" dirty="0">
                <a:solidFill>
                  <a:schemeClr val="accent3">
                    <a:lumMod val="60000"/>
                    <a:lumOff val="40000"/>
                  </a:schemeClr>
                </a:solidFill>
                <a:latin typeface="Noto Sans" charset="0"/>
                <a:ea typeface="Noto Sans" charset="0"/>
                <a:cs typeface="Noto Sans" charset="0"/>
              </a:rPr>
              <a:t> US</a:t>
            </a:r>
            <a:endParaRPr lang="en-US" sz="1000" spc="160" dirty="0">
              <a:solidFill>
                <a:schemeClr val="accent3">
                  <a:lumMod val="60000"/>
                  <a:lumOff val="40000"/>
                </a:schemeClr>
              </a:solidFill>
              <a:latin typeface="Noto Sans" charset="0"/>
              <a:ea typeface="Noto Sans" charset="0"/>
              <a:cs typeface="Noto Sans" charset="0"/>
            </a:endParaRPr>
          </a:p>
        </p:txBody>
      </p:sp>
      <p:sp>
        <p:nvSpPr>
          <p:cNvPr id="13" name="TextBox 12"/>
          <p:cNvSpPr txBox="1"/>
          <p:nvPr userDrawn="1"/>
        </p:nvSpPr>
        <p:spPr>
          <a:xfrm>
            <a:off x="4583588" y="1232607"/>
            <a:ext cx="1843280" cy="246221"/>
          </a:xfrm>
          <a:prstGeom prst="rect">
            <a:avLst/>
          </a:prstGeom>
          <a:noFill/>
        </p:spPr>
        <p:txBody>
          <a:bodyPr wrap="square" rtlCol="0">
            <a:spAutoFit/>
          </a:bodyPr>
          <a:lstStyle/>
          <a:p>
            <a:pPr algn="ctr"/>
            <a:r>
              <a:rPr lang="en-US" sz="1000" spc="160" dirty="0">
                <a:solidFill>
                  <a:schemeClr val="accent3">
                    <a:lumMod val="60000"/>
                    <a:lumOff val="40000"/>
                  </a:schemeClr>
                </a:solidFill>
                <a:latin typeface="Noto Sans" charset="0"/>
                <a:ea typeface="Noto Sans" charset="0"/>
                <a:cs typeface="Noto Sans" charset="0"/>
              </a:rPr>
              <a:t>INFOGRAPHICS</a:t>
            </a:r>
          </a:p>
        </p:txBody>
      </p:sp>
      <p:sp>
        <p:nvSpPr>
          <p:cNvPr id="14" name="TextBox 13"/>
          <p:cNvSpPr txBox="1"/>
          <p:nvPr userDrawn="1"/>
        </p:nvSpPr>
        <p:spPr>
          <a:xfrm>
            <a:off x="6562782" y="1232607"/>
            <a:ext cx="1843280" cy="246221"/>
          </a:xfrm>
          <a:prstGeom prst="rect">
            <a:avLst/>
          </a:prstGeom>
          <a:noFill/>
        </p:spPr>
        <p:txBody>
          <a:bodyPr wrap="square" rtlCol="0">
            <a:spAutoFit/>
          </a:bodyPr>
          <a:lstStyle/>
          <a:p>
            <a:pPr algn="ctr"/>
            <a:r>
              <a:rPr lang="en-US" sz="1000" spc="160" dirty="0">
                <a:solidFill>
                  <a:schemeClr val="accent3">
                    <a:lumMod val="60000"/>
                    <a:lumOff val="40000"/>
                  </a:schemeClr>
                </a:solidFill>
                <a:latin typeface="Noto Sans" charset="0"/>
                <a:ea typeface="Noto Sans" charset="0"/>
                <a:cs typeface="Noto Sans" charset="0"/>
              </a:rPr>
              <a:t>CONTACT</a:t>
            </a:r>
          </a:p>
        </p:txBody>
      </p:sp>
      <p:sp>
        <p:nvSpPr>
          <p:cNvPr id="10" name="Slide Number Placeholder 5"/>
          <p:cNvSpPr>
            <a:spLocks noGrp="1"/>
          </p:cNvSpPr>
          <p:nvPr>
            <p:ph type="sldNum" sz="quarter" idx="4"/>
          </p:nvPr>
        </p:nvSpPr>
        <p:spPr>
          <a:xfrm>
            <a:off x="10919018" y="1346518"/>
            <a:ext cx="725296" cy="365125"/>
          </a:xfrm>
          <a:prstGeom prst="rect">
            <a:avLst/>
          </a:prstGeom>
        </p:spPr>
        <p:txBody>
          <a:bodyPr anchor="ctr"/>
          <a:lstStyle>
            <a:lvl1pPr algn="ctr">
              <a:defRPr sz="1600" b="0" i="0">
                <a:solidFill>
                  <a:schemeClr val="bg1"/>
                </a:solidFill>
                <a:latin typeface="Roboto Light" charset="0"/>
                <a:ea typeface="Roboto Light" charset="0"/>
                <a:cs typeface="Roboto Light" charset="0"/>
              </a:defRPr>
            </a:lvl1pPr>
          </a:lstStyle>
          <a:p>
            <a:fld id="{936C95AE-7298-45E1-9514-94AFF5BED89B}" type="slidenum">
              <a:rPr lang="en-US" smtClean="0"/>
              <a:pPr/>
              <a:t>‹N°›</a:t>
            </a:fld>
            <a:endParaRPr lang="en-US" dirty="0"/>
          </a:p>
        </p:txBody>
      </p:sp>
    </p:spTree>
    <p:extLst>
      <p:ext uri="{BB962C8B-B14F-4D97-AF65-F5344CB8AC3E}">
        <p14:creationId xmlns:p14="http://schemas.microsoft.com/office/powerpoint/2010/main" val="4299917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ection 3">
    <p:bg>
      <p:bgRef idx="1001">
        <a:schemeClr val="bg1"/>
      </p:bgRef>
    </p:bg>
    <p:spTree>
      <p:nvGrpSpPr>
        <p:cNvPr id="1" name=""/>
        <p:cNvGrpSpPr/>
        <p:nvPr/>
      </p:nvGrpSpPr>
      <p:grpSpPr>
        <a:xfrm>
          <a:off x="0" y="0"/>
          <a:ext cx="0" cy="0"/>
          <a:chOff x="0" y="0"/>
          <a:chExt cx="0" cy="0"/>
        </a:xfrm>
      </p:grpSpPr>
      <p:sp>
        <p:nvSpPr>
          <p:cNvPr id="8" name="Title 1"/>
          <p:cNvSpPr>
            <a:spLocks noGrp="1"/>
          </p:cNvSpPr>
          <p:nvPr>
            <p:ph type="title"/>
          </p:nvPr>
        </p:nvSpPr>
        <p:spPr>
          <a:xfrm>
            <a:off x="526941" y="573317"/>
            <a:ext cx="11230421" cy="431020"/>
          </a:xfrm>
          <a:prstGeom prst="rect">
            <a:avLst/>
          </a:prstGeom>
        </p:spPr>
        <p:txBody>
          <a:bodyPr/>
          <a:lstStyle>
            <a:lvl1pPr algn="l">
              <a:defRPr sz="2400" b="0" i="0">
                <a:solidFill>
                  <a:schemeClr val="bg1"/>
                </a:solidFill>
                <a:latin typeface="Roboto Medium" charset="0"/>
                <a:ea typeface="Roboto Medium" charset="0"/>
                <a:cs typeface="Roboto Medium" charset="0"/>
              </a:defRPr>
            </a:lvl1pPr>
          </a:lstStyle>
          <a:p>
            <a:r>
              <a:rPr lang="en-US" dirty="0"/>
              <a:t>Click to edit Master title style</a:t>
            </a:r>
          </a:p>
        </p:txBody>
      </p:sp>
      <p:sp>
        <p:nvSpPr>
          <p:cNvPr id="2" name="TextBox 1"/>
          <p:cNvSpPr txBox="1"/>
          <p:nvPr userDrawn="1"/>
        </p:nvSpPr>
        <p:spPr>
          <a:xfrm>
            <a:off x="526941" y="1232607"/>
            <a:ext cx="1843280" cy="246221"/>
          </a:xfrm>
          <a:prstGeom prst="rect">
            <a:avLst/>
          </a:prstGeom>
          <a:noFill/>
        </p:spPr>
        <p:txBody>
          <a:bodyPr wrap="square" rtlCol="0">
            <a:spAutoFit/>
          </a:bodyPr>
          <a:lstStyle/>
          <a:p>
            <a:pPr algn="ctr"/>
            <a:r>
              <a:rPr lang="en-US" sz="1000" spc="160" dirty="0">
                <a:solidFill>
                  <a:schemeClr val="accent3">
                    <a:lumMod val="60000"/>
                    <a:lumOff val="40000"/>
                  </a:schemeClr>
                </a:solidFill>
                <a:latin typeface="Noto Sans" charset="0"/>
                <a:ea typeface="Noto Sans" charset="0"/>
                <a:cs typeface="Noto Sans" charset="0"/>
              </a:rPr>
              <a:t>OUR COMPANY</a:t>
            </a:r>
          </a:p>
        </p:txBody>
      </p:sp>
      <p:cxnSp>
        <p:nvCxnSpPr>
          <p:cNvPr id="6" name="Straight Connector 5"/>
          <p:cNvCxnSpPr/>
          <p:nvPr userDrawn="1"/>
        </p:nvCxnSpPr>
        <p:spPr>
          <a:xfrm>
            <a:off x="4583588" y="1602414"/>
            <a:ext cx="1843280"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a:xfrm>
            <a:off x="2604393" y="1232607"/>
            <a:ext cx="1843280" cy="246221"/>
          </a:xfrm>
          <a:prstGeom prst="rect">
            <a:avLst/>
          </a:prstGeom>
          <a:noFill/>
        </p:spPr>
        <p:txBody>
          <a:bodyPr wrap="square" rtlCol="0">
            <a:spAutoFit/>
          </a:bodyPr>
          <a:lstStyle/>
          <a:p>
            <a:pPr algn="ctr"/>
            <a:r>
              <a:rPr lang="en-US" sz="1000" spc="160" dirty="0">
                <a:solidFill>
                  <a:schemeClr val="accent3">
                    <a:lumMod val="60000"/>
                    <a:lumOff val="40000"/>
                  </a:schemeClr>
                </a:solidFill>
                <a:latin typeface="Noto Sans" charset="0"/>
                <a:ea typeface="Noto Sans" charset="0"/>
                <a:cs typeface="Noto Sans" charset="0"/>
              </a:rPr>
              <a:t>ABOUT</a:t>
            </a:r>
            <a:r>
              <a:rPr lang="en-US" sz="1000" spc="160" baseline="0" dirty="0">
                <a:solidFill>
                  <a:schemeClr val="accent3">
                    <a:lumMod val="60000"/>
                    <a:lumOff val="40000"/>
                  </a:schemeClr>
                </a:solidFill>
                <a:latin typeface="Noto Sans" charset="0"/>
                <a:ea typeface="Noto Sans" charset="0"/>
                <a:cs typeface="Noto Sans" charset="0"/>
              </a:rPr>
              <a:t> US</a:t>
            </a:r>
            <a:endParaRPr lang="en-US" sz="1000" spc="160" dirty="0">
              <a:solidFill>
                <a:schemeClr val="accent3">
                  <a:lumMod val="60000"/>
                  <a:lumOff val="40000"/>
                </a:schemeClr>
              </a:solidFill>
              <a:latin typeface="Noto Sans" charset="0"/>
              <a:ea typeface="Noto Sans" charset="0"/>
              <a:cs typeface="Noto Sans" charset="0"/>
            </a:endParaRPr>
          </a:p>
        </p:txBody>
      </p:sp>
      <p:sp>
        <p:nvSpPr>
          <p:cNvPr id="13" name="TextBox 12"/>
          <p:cNvSpPr txBox="1"/>
          <p:nvPr userDrawn="1"/>
        </p:nvSpPr>
        <p:spPr>
          <a:xfrm>
            <a:off x="4583588" y="1232607"/>
            <a:ext cx="1843280" cy="246221"/>
          </a:xfrm>
          <a:prstGeom prst="rect">
            <a:avLst/>
          </a:prstGeom>
          <a:noFill/>
        </p:spPr>
        <p:txBody>
          <a:bodyPr wrap="square" rtlCol="0">
            <a:spAutoFit/>
          </a:bodyPr>
          <a:lstStyle/>
          <a:p>
            <a:pPr algn="ctr"/>
            <a:r>
              <a:rPr lang="en-US" sz="1000" spc="160" dirty="0">
                <a:solidFill>
                  <a:schemeClr val="bg1"/>
                </a:solidFill>
                <a:latin typeface="Noto Sans" charset="0"/>
                <a:ea typeface="Noto Sans" charset="0"/>
                <a:cs typeface="Noto Sans" charset="0"/>
              </a:rPr>
              <a:t>INFOGRAPHICS</a:t>
            </a:r>
          </a:p>
        </p:txBody>
      </p:sp>
      <p:sp>
        <p:nvSpPr>
          <p:cNvPr id="14" name="TextBox 13"/>
          <p:cNvSpPr txBox="1"/>
          <p:nvPr userDrawn="1"/>
        </p:nvSpPr>
        <p:spPr>
          <a:xfrm>
            <a:off x="6562782" y="1232607"/>
            <a:ext cx="1843280" cy="246221"/>
          </a:xfrm>
          <a:prstGeom prst="rect">
            <a:avLst/>
          </a:prstGeom>
          <a:noFill/>
        </p:spPr>
        <p:txBody>
          <a:bodyPr wrap="square" rtlCol="0">
            <a:spAutoFit/>
          </a:bodyPr>
          <a:lstStyle/>
          <a:p>
            <a:pPr algn="ctr"/>
            <a:r>
              <a:rPr lang="en-US" sz="1000" spc="160" dirty="0">
                <a:solidFill>
                  <a:schemeClr val="accent3">
                    <a:lumMod val="60000"/>
                    <a:lumOff val="40000"/>
                  </a:schemeClr>
                </a:solidFill>
                <a:latin typeface="Noto Sans" charset="0"/>
                <a:ea typeface="Noto Sans" charset="0"/>
                <a:cs typeface="Noto Sans" charset="0"/>
              </a:rPr>
              <a:t>CONTACT</a:t>
            </a:r>
          </a:p>
        </p:txBody>
      </p:sp>
      <p:sp>
        <p:nvSpPr>
          <p:cNvPr id="10" name="Slide Number Placeholder 5"/>
          <p:cNvSpPr>
            <a:spLocks noGrp="1"/>
          </p:cNvSpPr>
          <p:nvPr>
            <p:ph type="sldNum" sz="quarter" idx="4"/>
          </p:nvPr>
        </p:nvSpPr>
        <p:spPr>
          <a:xfrm>
            <a:off x="10919018" y="1346518"/>
            <a:ext cx="725296" cy="365125"/>
          </a:xfrm>
          <a:prstGeom prst="rect">
            <a:avLst/>
          </a:prstGeom>
        </p:spPr>
        <p:txBody>
          <a:bodyPr anchor="ctr"/>
          <a:lstStyle>
            <a:lvl1pPr algn="ctr">
              <a:defRPr sz="1600" b="0" i="0">
                <a:solidFill>
                  <a:schemeClr val="bg1"/>
                </a:solidFill>
                <a:latin typeface="Roboto Light" charset="0"/>
                <a:ea typeface="Roboto Light" charset="0"/>
                <a:cs typeface="Roboto Light" charset="0"/>
              </a:defRPr>
            </a:lvl1pPr>
          </a:lstStyle>
          <a:p>
            <a:fld id="{936C95AE-7298-45E1-9514-94AFF5BED89B}" type="slidenum">
              <a:rPr lang="en-US" smtClean="0"/>
              <a:pPr/>
              <a:t>‹N°›</a:t>
            </a:fld>
            <a:endParaRPr lang="en-US" dirty="0"/>
          </a:p>
        </p:txBody>
      </p:sp>
    </p:spTree>
    <p:extLst>
      <p:ext uri="{BB962C8B-B14F-4D97-AF65-F5344CB8AC3E}">
        <p14:creationId xmlns:p14="http://schemas.microsoft.com/office/powerpoint/2010/main" val="206097526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52375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375482"/>
      </p:ext>
    </p:extLst>
  </p:cSld>
  <p:clrMap bg1="lt1" tx1="dk1" bg2="lt2" tx2="dk2" accent1="accent1" accent2="accent2" accent3="accent3" accent4="accent4" accent5="accent5" accent6="accent6" hlink="hlink" folHlink="folHlink"/>
  <p:sldLayoutIdLst>
    <p:sldLayoutId id="214748373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0" y="0"/>
            <a:ext cx="12192000" cy="3746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374695"/>
            <a:ext cx="12192000" cy="1201231"/>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userDrawn="1"/>
        </p:nvSpPr>
        <p:spPr>
          <a:xfrm>
            <a:off x="526840" y="56543"/>
            <a:ext cx="5080673" cy="276999"/>
          </a:xfrm>
          <a:prstGeom prst="rect">
            <a:avLst/>
          </a:prstGeom>
          <a:noFill/>
        </p:spPr>
        <p:txBody>
          <a:bodyPr wrap="square" rtlCol="0">
            <a:spAutoFit/>
          </a:bodyPr>
          <a:lstStyle/>
          <a:p>
            <a:r>
              <a:rPr lang="en-US" sz="1200" b="0" i="0" dirty="0">
                <a:solidFill>
                  <a:schemeClr val="accent3">
                    <a:lumMod val="40000"/>
                    <a:lumOff val="60000"/>
                  </a:schemeClr>
                </a:solidFill>
                <a:latin typeface="Roboto Light" charset="0"/>
                <a:ea typeface="Roboto Light" charset="0"/>
                <a:cs typeface="Roboto Light" charset="0"/>
              </a:rPr>
              <a:t>Your</a:t>
            </a:r>
            <a:r>
              <a:rPr lang="en-US" sz="1200" b="0" i="0" baseline="0" dirty="0">
                <a:solidFill>
                  <a:schemeClr val="accent3">
                    <a:lumMod val="40000"/>
                    <a:lumOff val="60000"/>
                  </a:schemeClr>
                </a:solidFill>
                <a:latin typeface="Roboto Light" charset="0"/>
                <a:ea typeface="Roboto Light" charset="0"/>
                <a:cs typeface="Roboto Light" charset="0"/>
              </a:rPr>
              <a:t> Company Slogan Here and some Business Information</a:t>
            </a:r>
            <a:endParaRPr lang="en-US" sz="1200" b="0" i="0" dirty="0">
              <a:solidFill>
                <a:schemeClr val="accent3">
                  <a:lumMod val="40000"/>
                  <a:lumOff val="60000"/>
                </a:schemeClr>
              </a:solidFill>
              <a:latin typeface="Roboto Light" charset="0"/>
              <a:ea typeface="Roboto Light" charset="0"/>
              <a:cs typeface="Roboto Light" charset="0"/>
            </a:endParaRPr>
          </a:p>
        </p:txBody>
      </p:sp>
      <p:sp>
        <p:nvSpPr>
          <p:cNvPr id="13" name="TextBox 12"/>
          <p:cNvSpPr txBox="1"/>
          <p:nvPr userDrawn="1"/>
        </p:nvSpPr>
        <p:spPr>
          <a:xfrm>
            <a:off x="6524940" y="56543"/>
            <a:ext cx="5080673" cy="276999"/>
          </a:xfrm>
          <a:prstGeom prst="rect">
            <a:avLst/>
          </a:prstGeom>
          <a:noFill/>
        </p:spPr>
        <p:txBody>
          <a:bodyPr wrap="square" rtlCol="0">
            <a:spAutoFit/>
          </a:bodyPr>
          <a:lstStyle/>
          <a:p>
            <a:pPr algn="r"/>
            <a:r>
              <a:rPr lang="en-US" sz="1200" b="0" i="0" dirty="0">
                <a:solidFill>
                  <a:schemeClr val="accent3">
                    <a:lumMod val="40000"/>
                    <a:lumOff val="60000"/>
                  </a:schemeClr>
                </a:solidFill>
                <a:latin typeface="Roboto Light" charset="0"/>
                <a:ea typeface="Roboto Light" charset="0"/>
                <a:cs typeface="Roboto Light" charset="0"/>
              </a:rPr>
              <a:t>E-Mail: me@materialdesigntemplate</a:t>
            </a:r>
            <a:r>
              <a:rPr lang="en-US" sz="1200" b="0" i="0" baseline="0" dirty="0">
                <a:solidFill>
                  <a:schemeClr val="accent3">
                    <a:lumMod val="40000"/>
                    <a:lumOff val="60000"/>
                  </a:schemeClr>
                </a:solidFill>
                <a:latin typeface="Roboto Light" charset="0"/>
                <a:ea typeface="Roboto Light" charset="0"/>
                <a:cs typeface="Roboto Light" charset="0"/>
              </a:rPr>
              <a:t> l Phone: +49 89 1726182</a:t>
            </a:r>
            <a:endParaRPr lang="en-US" sz="1200" b="0" i="0" dirty="0">
              <a:solidFill>
                <a:schemeClr val="accent3">
                  <a:lumMod val="40000"/>
                  <a:lumOff val="60000"/>
                </a:schemeClr>
              </a:solidFill>
              <a:latin typeface="Roboto Light" charset="0"/>
              <a:ea typeface="Roboto Light" charset="0"/>
              <a:cs typeface="Roboto Light" charset="0"/>
            </a:endParaRPr>
          </a:p>
        </p:txBody>
      </p:sp>
      <p:sp>
        <p:nvSpPr>
          <p:cNvPr id="10" name="Oval 9"/>
          <p:cNvSpPr/>
          <p:nvPr userDrawn="1"/>
        </p:nvSpPr>
        <p:spPr>
          <a:xfrm>
            <a:off x="10957719" y="1205133"/>
            <a:ext cx="647894" cy="647894"/>
          </a:xfrm>
          <a:prstGeom prst="ellipse">
            <a:avLst/>
          </a:prstGeom>
          <a:solidFill>
            <a:schemeClr val="accent6"/>
          </a:solidFill>
          <a:ln>
            <a:noFill/>
          </a:ln>
          <a:effectLst>
            <a:outerShdw blurRad="50800" dist="254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5"/>
          <p:cNvSpPr>
            <a:spLocks noGrp="1"/>
          </p:cNvSpPr>
          <p:nvPr>
            <p:ph type="sldNum" sz="quarter" idx="4"/>
          </p:nvPr>
        </p:nvSpPr>
        <p:spPr>
          <a:xfrm>
            <a:off x="10919018" y="1346518"/>
            <a:ext cx="725296" cy="365125"/>
          </a:xfrm>
          <a:prstGeom prst="rect">
            <a:avLst/>
          </a:prstGeom>
        </p:spPr>
        <p:txBody>
          <a:bodyPr anchor="ctr"/>
          <a:lstStyle>
            <a:lvl1pPr algn="ctr">
              <a:defRPr sz="1600" b="0" i="0">
                <a:solidFill>
                  <a:schemeClr val="bg1"/>
                </a:solidFill>
                <a:latin typeface="Roboto Light" charset="0"/>
                <a:ea typeface="Roboto Light" charset="0"/>
                <a:cs typeface="Roboto Light" charset="0"/>
              </a:defRPr>
            </a:lvl1pPr>
          </a:lstStyle>
          <a:p>
            <a:fld id="{936C95AE-7298-45E1-9514-94AFF5BED89B}" type="slidenum">
              <a:rPr lang="en-US" smtClean="0"/>
              <a:pPr/>
              <a:t>‹N°›</a:t>
            </a:fld>
            <a:endParaRPr lang="en-US" dirty="0"/>
          </a:p>
        </p:txBody>
      </p:sp>
    </p:spTree>
    <p:extLst>
      <p:ext uri="{BB962C8B-B14F-4D97-AF65-F5344CB8AC3E}">
        <p14:creationId xmlns:p14="http://schemas.microsoft.com/office/powerpoint/2010/main" val="272312086"/>
      </p:ext>
    </p:extLst>
  </p:cSld>
  <p:clrMap bg1="lt1" tx1="dk1" bg2="lt2" tx2="dk2" accent1="accent1" accent2="accent2" accent3="accent3" accent4="accent4" accent5="accent5" accent6="accent6" hlink="hlink" folHlink="folHlink"/>
  <p:sldLayoutIdLst>
    <p:sldLayoutId id="2147483660" r:id="rId1"/>
    <p:sldLayoutId id="2147483726" r:id="rId2"/>
    <p:sldLayoutId id="2147483732"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2"/>
            <a:ext cx="12192000" cy="541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userDrawn="1"/>
        </p:nvGrpSpPr>
        <p:grpSpPr>
          <a:xfrm>
            <a:off x="10889441" y="554720"/>
            <a:ext cx="624684" cy="566964"/>
            <a:chOff x="1585912" y="819150"/>
            <a:chExt cx="5143500" cy="4668265"/>
          </a:xfrm>
        </p:grpSpPr>
        <p:sp>
          <p:nvSpPr>
            <p:cNvPr id="8" name="Diamond 7"/>
            <p:cNvSpPr/>
            <p:nvPr/>
          </p:nvSpPr>
          <p:spPr>
            <a:xfrm>
              <a:off x="1585912" y="2687065"/>
              <a:ext cx="5143500" cy="2800350"/>
            </a:xfrm>
            <a:prstGeom prst="diamond">
              <a:avLst/>
            </a:prstGeom>
            <a:solidFill>
              <a:schemeClr val="accent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2243137" y="2687065"/>
              <a:ext cx="3829050" cy="2084704"/>
            </a:xfrm>
            <a:custGeom>
              <a:avLst/>
              <a:gdLst>
                <a:gd name="connsiteX0" fmla="*/ 1884609 w 3769219"/>
                <a:gd name="connsiteY0" fmla="*/ 0 h 2052130"/>
                <a:gd name="connsiteX1" fmla="*/ 3769219 w 3769219"/>
                <a:gd name="connsiteY1" fmla="*/ 1026065 h 2052130"/>
                <a:gd name="connsiteX2" fmla="*/ 1884609 w 3769219"/>
                <a:gd name="connsiteY2" fmla="*/ 2052130 h 2052130"/>
                <a:gd name="connsiteX3" fmla="*/ 0 w 3769219"/>
                <a:gd name="connsiteY3" fmla="*/ 1026065 h 2052130"/>
              </a:gdLst>
              <a:ahLst/>
              <a:cxnLst>
                <a:cxn ang="0">
                  <a:pos x="connsiteX0" y="connsiteY0"/>
                </a:cxn>
                <a:cxn ang="0">
                  <a:pos x="connsiteX1" y="connsiteY1"/>
                </a:cxn>
                <a:cxn ang="0">
                  <a:pos x="connsiteX2" y="connsiteY2"/>
                </a:cxn>
                <a:cxn ang="0">
                  <a:pos x="connsiteX3" y="connsiteY3"/>
                </a:cxn>
              </a:cxnLst>
              <a:rect l="l" t="t" r="r" b="b"/>
              <a:pathLst>
                <a:path w="3769219" h="2052130">
                  <a:moveTo>
                    <a:pt x="1884609" y="0"/>
                  </a:moveTo>
                  <a:lnTo>
                    <a:pt x="3769219" y="1026065"/>
                  </a:lnTo>
                  <a:lnTo>
                    <a:pt x="1884609" y="2052130"/>
                  </a:lnTo>
                  <a:lnTo>
                    <a:pt x="0" y="1026065"/>
                  </a:lnTo>
                  <a:close/>
                </a:path>
              </a:pathLst>
            </a:custGeom>
            <a:solidFill>
              <a:schemeClr val="tx2"/>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p:cNvSpPr/>
            <p:nvPr/>
          </p:nvSpPr>
          <p:spPr>
            <a:xfrm>
              <a:off x="1585912" y="1753108"/>
              <a:ext cx="5143500" cy="2800350"/>
            </a:xfrm>
            <a:prstGeom prst="diamond">
              <a:avLst/>
            </a:prstGeom>
            <a:solidFill>
              <a:schemeClr val="accent5"/>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a:off x="2243137" y="1753108"/>
              <a:ext cx="3829050" cy="2084704"/>
            </a:xfrm>
            <a:custGeom>
              <a:avLst/>
              <a:gdLst>
                <a:gd name="connsiteX0" fmla="*/ 1884609 w 3769219"/>
                <a:gd name="connsiteY0" fmla="*/ 0 h 2052130"/>
                <a:gd name="connsiteX1" fmla="*/ 3769219 w 3769219"/>
                <a:gd name="connsiteY1" fmla="*/ 1026065 h 2052130"/>
                <a:gd name="connsiteX2" fmla="*/ 1884609 w 3769219"/>
                <a:gd name="connsiteY2" fmla="*/ 2052130 h 2052130"/>
                <a:gd name="connsiteX3" fmla="*/ 0 w 3769219"/>
                <a:gd name="connsiteY3" fmla="*/ 1026065 h 2052130"/>
              </a:gdLst>
              <a:ahLst/>
              <a:cxnLst>
                <a:cxn ang="0">
                  <a:pos x="connsiteX0" y="connsiteY0"/>
                </a:cxn>
                <a:cxn ang="0">
                  <a:pos x="connsiteX1" y="connsiteY1"/>
                </a:cxn>
                <a:cxn ang="0">
                  <a:pos x="connsiteX2" y="connsiteY2"/>
                </a:cxn>
                <a:cxn ang="0">
                  <a:pos x="connsiteX3" y="connsiteY3"/>
                </a:cxn>
              </a:cxnLst>
              <a:rect l="l" t="t" r="r" b="b"/>
              <a:pathLst>
                <a:path w="3769219" h="2052130">
                  <a:moveTo>
                    <a:pt x="1884609" y="0"/>
                  </a:moveTo>
                  <a:lnTo>
                    <a:pt x="3769219" y="1026065"/>
                  </a:lnTo>
                  <a:lnTo>
                    <a:pt x="1884609" y="2052130"/>
                  </a:lnTo>
                  <a:lnTo>
                    <a:pt x="0" y="1026065"/>
                  </a:lnTo>
                  <a:close/>
                </a:path>
              </a:pathLst>
            </a:custGeom>
            <a:solidFill>
              <a:schemeClr val="accent4"/>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1585912" y="819150"/>
              <a:ext cx="5143500" cy="2800350"/>
            </a:xfrm>
            <a:prstGeom prst="diamond">
              <a:avLst/>
            </a:pr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Slide Number Placeholder 5"/>
          <p:cNvSpPr>
            <a:spLocks noGrp="1"/>
          </p:cNvSpPr>
          <p:nvPr>
            <p:ph type="sldNum" sz="quarter" idx="4"/>
          </p:nvPr>
        </p:nvSpPr>
        <p:spPr>
          <a:xfrm>
            <a:off x="11156953" y="6225718"/>
            <a:ext cx="554704" cy="365125"/>
          </a:xfrm>
          <a:prstGeom prst="rect">
            <a:avLst/>
          </a:prstGeom>
        </p:spPr>
        <p:txBody>
          <a:bodyPr anchor="ctr"/>
          <a:lstStyle>
            <a:lvl1pPr algn="r">
              <a:defRPr sz="1200" b="0" i="0">
                <a:latin typeface="Roboto Light" charset="0"/>
                <a:ea typeface="Roboto Light" charset="0"/>
                <a:cs typeface="Roboto Light" charset="0"/>
              </a:defRPr>
            </a:lvl1pPr>
          </a:lstStyle>
          <a:p>
            <a:fld id="{936C95AE-7298-45E1-9514-94AFF5BED89B}" type="slidenum">
              <a:rPr lang="en-US" smtClean="0"/>
              <a:pPr/>
              <a:t>‹N°›</a:t>
            </a:fld>
            <a:endParaRPr lang="en-US" dirty="0"/>
          </a:p>
        </p:txBody>
      </p:sp>
    </p:spTree>
    <p:extLst>
      <p:ext uri="{BB962C8B-B14F-4D97-AF65-F5344CB8AC3E}">
        <p14:creationId xmlns:p14="http://schemas.microsoft.com/office/powerpoint/2010/main" val="2086963638"/>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25"/>
          <p:cNvSpPr/>
          <p:nvPr/>
        </p:nvSpPr>
        <p:spPr>
          <a:xfrm rot="18900000">
            <a:off x="9512815" y="269905"/>
            <a:ext cx="4764506" cy="5604356"/>
          </a:xfrm>
          <a:custGeom>
            <a:avLst/>
            <a:gdLst>
              <a:gd name="connsiteX0" fmla="*/ 3924657 w 4764506"/>
              <a:gd name="connsiteY0" fmla="*/ 0 h 5604356"/>
              <a:gd name="connsiteX1" fmla="*/ 4764506 w 4764506"/>
              <a:gd name="connsiteY1" fmla="*/ 839849 h 5604356"/>
              <a:gd name="connsiteX2" fmla="*/ 0 w 4764506"/>
              <a:gd name="connsiteY2" fmla="*/ 5604356 h 5604356"/>
              <a:gd name="connsiteX3" fmla="*/ 0 w 4764506"/>
              <a:gd name="connsiteY3" fmla="*/ 0 h 5604356"/>
            </a:gdLst>
            <a:ahLst/>
            <a:cxnLst>
              <a:cxn ang="0">
                <a:pos x="connsiteX0" y="connsiteY0"/>
              </a:cxn>
              <a:cxn ang="0">
                <a:pos x="connsiteX1" y="connsiteY1"/>
              </a:cxn>
              <a:cxn ang="0">
                <a:pos x="connsiteX2" y="connsiteY2"/>
              </a:cxn>
              <a:cxn ang="0">
                <a:pos x="connsiteX3" y="connsiteY3"/>
              </a:cxn>
            </a:cxnLst>
            <a:rect l="l" t="t" r="r" b="b"/>
            <a:pathLst>
              <a:path w="4764506" h="5604356">
                <a:moveTo>
                  <a:pt x="3924657" y="0"/>
                </a:moveTo>
                <a:lnTo>
                  <a:pt x="4764506" y="839849"/>
                </a:lnTo>
                <a:lnTo>
                  <a:pt x="0" y="5604356"/>
                </a:lnTo>
                <a:lnTo>
                  <a:pt x="0" y="0"/>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23"/>
          <p:cNvSpPr/>
          <p:nvPr/>
        </p:nvSpPr>
        <p:spPr>
          <a:xfrm rot="18900000">
            <a:off x="6304472" y="-2053292"/>
            <a:ext cx="4106584" cy="4106584"/>
          </a:xfrm>
          <a:custGeom>
            <a:avLst/>
            <a:gdLst>
              <a:gd name="connsiteX0" fmla="*/ 0 w 4106584"/>
              <a:gd name="connsiteY0" fmla="*/ 0 h 4106584"/>
              <a:gd name="connsiteX1" fmla="*/ 4106584 w 4106584"/>
              <a:gd name="connsiteY1" fmla="*/ 4106584 h 4106584"/>
              <a:gd name="connsiteX2" fmla="*/ 0 w 4106584"/>
              <a:gd name="connsiteY2" fmla="*/ 4106584 h 4106584"/>
            </a:gdLst>
            <a:ahLst/>
            <a:cxnLst>
              <a:cxn ang="0">
                <a:pos x="connsiteX0" y="connsiteY0"/>
              </a:cxn>
              <a:cxn ang="0">
                <a:pos x="connsiteX1" y="connsiteY1"/>
              </a:cxn>
              <a:cxn ang="0">
                <a:pos x="connsiteX2" y="connsiteY2"/>
              </a:cxn>
            </a:cxnLst>
            <a:rect l="l" t="t" r="r" b="b"/>
            <a:pathLst>
              <a:path w="4106584" h="4106584">
                <a:moveTo>
                  <a:pt x="0" y="0"/>
                </a:moveTo>
                <a:lnTo>
                  <a:pt x="4106584" y="4106584"/>
                </a:lnTo>
                <a:lnTo>
                  <a:pt x="0" y="4106584"/>
                </a:lnTo>
                <a:close/>
              </a:path>
            </a:pathLst>
          </a:custGeom>
          <a:solidFill>
            <a:schemeClr val="accent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37"/>
          <p:cNvSpPr/>
          <p:nvPr/>
        </p:nvSpPr>
        <p:spPr>
          <a:xfrm rot="18900000">
            <a:off x="536614" y="5581005"/>
            <a:ext cx="2553990" cy="2553991"/>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36"/>
          <p:cNvSpPr/>
          <p:nvPr/>
        </p:nvSpPr>
        <p:spPr>
          <a:xfrm rot="18900000">
            <a:off x="-1135325" y="3708715"/>
            <a:ext cx="2559410" cy="2967775"/>
          </a:xfrm>
          <a:custGeom>
            <a:avLst/>
            <a:gdLst>
              <a:gd name="connsiteX0" fmla="*/ 2559410 w 2559410"/>
              <a:gd name="connsiteY0" fmla="*/ 0 h 2967775"/>
              <a:gd name="connsiteX1" fmla="*/ 2559410 w 2559410"/>
              <a:gd name="connsiteY1" fmla="*/ 2967775 h 2967775"/>
              <a:gd name="connsiteX2" fmla="*/ 408364 w 2559410"/>
              <a:gd name="connsiteY2" fmla="*/ 2967774 h 2967775"/>
              <a:gd name="connsiteX3" fmla="*/ 0 w 2559410"/>
              <a:gd name="connsiteY3" fmla="*/ 2559411 h 2967775"/>
            </a:gdLst>
            <a:ahLst/>
            <a:cxnLst>
              <a:cxn ang="0">
                <a:pos x="connsiteX0" y="connsiteY0"/>
              </a:cxn>
              <a:cxn ang="0">
                <a:pos x="connsiteX1" y="connsiteY1"/>
              </a:cxn>
              <a:cxn ang="0">
                <a:pos x="connsiteX2" y="connsiteY2"/>
              </a:cxn>
              <a:cxn ang="0">
                <a:pos x="connsiteX3" y="connsiteY3"/>
              </a:cxn>
            </a:cxnLst>
            <a:rect l="l" t="t" r="r" b="b"/>
            <a:pathLst>
              <a:path w="2559410" h="2967775">
                <a:moveTo>
                  <a:pt x="2559410" y="0"/>
                </a:moveTo>
                <a:lnTo>
                  <a:pt x="2559410" y="2967775"/>
                </a:lnTo>
                <a:lnTo>
                  <a:pt x="408364" y="2967774"/>
                </a:lnTo>
                <a:lnTo>
                  <a:pt x="0" y="2559411"/>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27"/>
          <p:cNvSpPr/>
          <p:nvPr/>
        </p:nvSpPr>
        <p:spPr>
          <a:xfrm rot="18900000">
            <a:off x="7782545" y="4989712"/>
            <a:ext cx="3778408" cy="3635585"/>
          </a:xfrm>
          <a:custGeom>
            <a:avLst/>
            <a:gdLst>
              <a:gd name="connsiteX0" fmla="*/ 3778408 w 3778408"/>
              <a:gd name="connsiteY0" fmla="*/ 0 h 3635585"/>
              <a:gd name="connsiteX1" fmla="*/ 3778408 w 3778408"/>
              <a:gd name="connsiteY1" fmla="*/ 3492762 h 3635585"/>
              <a:gd name="connsiteX2" fmla="*/ 3635585 w 3778408"/>
              <a:gd name="connsiteY2" fmla="*/ 3635585 h 3635585"/>
              <a:gd name="connsiteX3" fmla="*/ 0 w 3778408"/>
              <a:gd name="connsiteY3" fmla="*/ 0 h 3635585"/>
            </a:gdLst>
            <a:ahLst/>
            <a:cxnLst>
              <a:cxn ang="0">
                <a:pos x="connsiteX0" y="connsiteY0"/>
              </a:cxn>
              <a:cxn ang="0">
                <a:pos x="connsiteX1" y="connsiteY1"/>
              </a:cxn>
              <a:cxn ang="0">
                <a:pos x="connsiteX2" y="connsiteY2"/>
              </a:cxn>
              <a:cxn ang="0">
                <a:pos x="connsiteX3" y="connsiteY3"/>
              </a:cxn>
            </a:cxnLst>
            <a:rect l="l" t="t" r="r" b="b"/>
            <a:pathLst>
              <a:path w="3778408" h="3635585">
                <a:moveTo>
                  <a:pt x="3778408" y="0"/>
                </a:moveTo>
                <a:lnTo>
                  <a:pt x="3778408" y="3492762"/>
                </a:lnTo>
                <a:lnTo>
                  <a:pt x="3635585" y="3635585"/>
                </a:lnTo>
                <a:lnTo>
                  <a:pt x="0" y="0"/>
                </a:lnTo>
                <a:close/>
              </a:path>
            </a:pathLst>
          </a:custGeom>
          <a:solidFill>
            <a:schemeClr val="accent4"/>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31"/>
          <p:cNvSpPr/>
          <p:nvPr/>
        </p:nvSpPr>
        <p:spPr>
          <a:xfrm rot="18900000">
            <a:off x="808246" y="-1956237"/>
            <a:ext cx="6376737" cy="9851811"/>
          </a:xfrm>
          <a:custGeom>
            <a:avLst/>
            <a:gdLst>
              <a:gd name="connsiteX0" fmla="*/ 2462209 w 6376737"/>
              <a:gd name="connsiteY0" fmla="*/ 0 h 9851811"/>
              <a:gd name="connsiteX1" fmla="*/ 6376737 w 6376737"/>
              <a:gd name="connsiteY1" fmla="*/ 3914528 h 9851811"/>
              <a:gd name="connsiteX2" fmla="*/ 6376737 w 6376737"/>
              <a:gd name="connsiteY2" fmla="*/ 9851811 h 9851811"/>
              <a:gd name="connsiteX3" fmla="*/ 2615344 w 6376737"/>
              <a:gd name="connsiteY3" fmla="*/ 9851811 h 9851811"/>
              <a:gd name="connsiteX4" fmla="*/ 1 w 6376737"/>
              <a:gd name="connsiteY4" fmla="*/ 7236468 h 9851811"/>
              <a:gd name="connsiteX5" fmla="*/ 0 w 6376737"/>
              <a:gd name="connsiteY5" fmla="*/ 2462209 h 985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76737" h="9851811">
                <a:moveTo>
                  <a:pt x="2462209" y="0"/>
                </a:moveTo>
                <a:lnTo>
                  <a:pt x="6376737" y="3914528"/>
                </a:lnTo>
                <a:lnTo>
                  <a:pt x="6376737" y="9851811"/>
                </a:lnTo>
                <a:lnTo>
                  <a:pt x="2615344" y="9851811"/>
                </a:lnTo>
                <a:lnTo>
                  <a:pt x="1" y="7236468"/>
                </a:lnTo>
                <a:lnTo>
                  <a:pt x="0" y="2462209"/>
                </a:lnTo>
                <a:close/>
              </a:path>
            </a:pathLst>
          </a:custGeom>
          <a:solidFill>
            <a:schemeClr val="bg1"/>
          </a:solidFill>
          <a:ln>
            <a:noFill/>
          </a:ln>
          <a:effectLst>
            <a:outerShdw blurRad="292100" dir="5400000" algn="t" rotWithShape="0">
              <a:prstClr val="black">
                <a:alpha val="45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p:cNvSpPr/>
          <p:nvPr/>
        </p:nvSpPr>
        <p:spPr>
          <a:xfrm>
            <a:off x="1654840" y="2564661"/>
            <a:ext cx="7017977" cy="1728678"/>
          </a:xfrm>
          <a:prstGeom prst="rect">
            <a:avLst/>
          </a:prstGeom>
        </p:spPr>
        <p:txBody>
          <a:bodyPr wrap="square">
            <a:spAutoFit/>
          </a:bodyPr>
          <a:lstStyle/>
          <a:p>
            <a:pPr algn="ctr">
              <a:lnSpc>
                <a:spcPct val="140000"/>
              </a:lnSpc>
            </a:pPr>
            <a:r>
              <a:rPr lang="en-US" sz="4000" dirty="0">
                <a:latin typeface="Roboto Light" charset="0"/>
                <a:ea typeface="Roboto Light" charset="0"/>
                <a:cs typeface="Roboto Light" charset="0"/>
              </a:rPr>
              <a:t>Conception </a:t>
            </a:r>
            <a:r>
              <a:rPr lang="en-US" sz="4000" dirty="0" err="1">
                <a:latin typeface="Roboto Light" charset="0"/>
                <a:ea typeface="Roboto Light" charset="0"/>
                <a:cs typeface="Roboto Light" charset="0"/>
              </a:rPr>
              <a:t>d’une</a:t>
            </a:r>
            <a:r>
              <a:rPr lang="en-US" sz="4000" dirty="0">
                <a:latin typeface="Roboto Light" charset="0"/>
                <a:ea typeface="Roboto Light" charset="0"/>
                <a:cs typeface="Roboto Light" charset="0"/>
              </a:rPr>
              <a:t> nouvelle architecture</a:t>
            </a:r>
          </a:p>
        </p:txBody>
      </p:sp>
      <p:sp>
        <p:nvSpPr>
          <p:cNvPr id="43" name="Rectangle 42"/>
          <p:cNvSpPr/>
          <p:nvPr/>
        </p:nvSpPr>
        <p:spPr>
          <a:xfrm>
            <a:off x="2917861" y="4225747"/>
            <a:ext cx="4969301" cy="461665"/>
          </a:xfrm>
          <a:prstGeom prst="rect">
            <a:avLst/>
          </a:prstGeom>
        </p:spPr>
        <p:txBody>
          <a:bodyPr wrap="square">
            <a:spAutoFit/>
          </a:bodyPr>
          <a:lstStyle/>
          <a:p>
            <a:pPr algn="ctr"/>
            <a:r>
              <a:rPr lang="fr-FR" sz="2400" dirty="0" err="1">
                <a:latin typeface="Roboto Thin" charset="0"/>
                <a:ea typeface="Roboto Thin" charset="0"/>
                <a:cs typeface="Roboto Thin" charset="0"/>
              </a:rPr>
              <a:t>Foosus</a:t>
            </a:r>
            <a:endParaRPr lang="en-US" sz="2400" dirty="0">
              <a:latin typeface="Roboto Thin" charset="0"/>
              <a:ea typeface="Roboto Thin" charset="0"/>
              <a:cs typeface="Roboto Thin" charset="0"/>
            </a:endParaRPr>
          </a:p>
        </p:txBody>
      </p:sp>
      <p:sp>
        <p:nvSpPr>
          <p:cNvPr id="21" name="Rectangle 20">
            <a:extLst>
              <a:ext uri="{FF2B5EF4-FFF2-40B4-BE49-F238E27FC236}">
                <a16:creationId xmlns:a16="http://schemas.microsoft.com/office/drawing/2014/main" id="{515017D0-2485-425E-93E8-2FE151A6DCD2}"/>
              </a:ext>
            </a:extLst>
          </p:cNvPr>
          <p:cNvSpPr/>
          <p:nvPr/>
        </p:nvSpPr>
        <p:spPr>
          <a:xfrm>
            <a:off x="3335667" y="5951634"/>
            <a:ext cx="3656321" cy="400110"/>
          </a:xfrm>
          <a:prstGeom prst="rect">
            <a:avLst/>
          </a:prstGeom>
        </p:spPr>
        <p:txBody>
          <a:bodyPr wrap="square">
            <a:spAutoFit/>
          </a:bodyPr>
          <a:lstStyle/>
          <a:p>
            <a:pPr algn="ctr"/>
            <a:r>
              <a:rPr lang="en-US" sz="2000" dirty="0">
                <a:latin typeface="Roboto Thin" charset="0"/>
                <a:ea typeface="Roboto Thin" charset="0"/>
                <a:cs typeface="Roboto Thin" charset="0"/>
              </a:rPr>
              <a:t>BENTZ Maxime</a:t>
            </a:r>
          </a:p>
        </p:txBody>
      </p:sp>
      <p:sp>
        <p:nvSpPr>
          <p:cNvPr id="22" name="Rectangle 21">
            <a:extLst>
              <a:ext uri="{FF2B5EF4-FFF2-40B4-BE49-F238E27FC236}">
                <a16:creationId xmlns:a16="http://schemas.microsoft.com/office/drawing/2014/main" id="{AC86860D-5B73-4A49-A8BF-14893744076D}"/>
              </a:ext>
            </a:extLst>
          </p:cNvPr>
          <p:cNvSpPr/>
          <p:nvPr/>
        </p:nvSpPr>
        <p:spPr>
          <a:xfrm>
            <a:off x="3335667" y="6368698"/>
            <a:ext cx="3656321" cy="369332"/>
          </a:xfrm>
          <a:prstGeom prst="rect">
            <a:avLst/>
          </a:prstGeom>
        </p:spPr>
        <p:txBody>
          <a:bodyPr wrap="square">
            <a:spAutoFit/>
          </a:bodyPr>
          <a:lstStyle/>
          <a:p>
            <a:pPr algn="ctr"/>
            <a:r>
              <a:rPr lang="en-US" b="1" dirty="0">
                <a:latin typeface="Roboto Thin" charset="0"/>
                <a:ea typeface="Roboto Thin" charset="0"/>
                <a:cs typeface="Roboto Thin" charset="0"/>
              </a:rPr>
              <a:t>Formation </a:t>
            </a:r>
            <a:r>
              <a:rPr lang="en-US" b="1" dirty="0" err="1">
                <a:latin typeface="Roboto Thin" charset="0"/>
                <a:ea typeface="Roboto Thin" charset="0"/>
                <a:cs typeface="Roboto Thin" charset="0"/>
              </a:rPr>
              <a:t>d’Architecte</a:t>
            </a:r>
            <a:r>
              <a:rPr lang="en-US" b="1" dirty="0">
                <a:latin typeface="Roboto Thin" charset="0"/>
                <a:ea typeface="Roboto Thin" charset="0"/>
                <a:cs typeface="Roboto Thin" charset="0"/>
              </a:rPr>
              <a:t> </a:t>
            </a:r>
            <a:r>
              <a:rPr lang="en-US" b="1" dirty="0" err="1">
                <a:latin typeface="Roboto Thin" charset="0"/>
                <a:ea typeface="Roboto Thin" charset="0"/>
                <a:cs typeface="Roboto Thin" charset="0"/>
              </a:rPr>
              <a:t>logiciel</a:t>
            </a:r>
            <a:endParaRPr lang="en-US" b="1" dirty="0">
              <a:latin typeface="Roboto Thin" charset="0"/>
              <a:ea typeface="Roboto Thin" charset="0"/>
              <a:cs typeface="Roboto Thin" charset="0"/>
            </a:endParaRPr>
          </a:p>
        </p:txBody>
      </p:sp>
      <p:sp>
        <p:nvSpPr>
          <p:cNvPr id="14" name="Freeform 25">
            <a:extLst>
              <a:ext uri="{FF2B5EF4-FFF2-40B4-BE49-F238E27FC236}">
                <a16:creationId xmlns:a16="http://schemas.microsoft.com/office/drawing/2014/main" id="{1A5EA5C1-A4B5-4083-9ABE-69B442A03A21}"/>
              </a:ext>
            </a:extLst>
          </p:cNvPr>
          <p:cNvSpPr/>
          <p:nvPr/>
        </p:nvSpPr>
        <p:spPr>
          <a:xfrm rot="18900000">
            <a:off x="9569964" y="269907"/>
            <a:ext cx="4764506" cy="5604356"/>
          </a:xfrm>
          <a:custGeom>
            <a:avLst/>
            <a:gdLst>
              <a:gd name="connsiteX0" fmla="*/ 3924657 w 4764506"/>
              <a:gd name="connsiteY0" fmla="*/ 0 h 5604356"/>
              <a:gd name="connsiteX1" fmla="*/ 4764506 w 4764506"/>
              <a:gd name="connsiteY1" fmla="*/ 839849 h 5604356"/>
              <a:gd name="connsiteX2" fmla="*/ 0 w 4764506"/>
              <a:gd name="connsiteY2" fmla="*/ 5604356 h 5604356"/>
              <a:gd name="connsiteX3" fmla="*/ 0 w 4764506"/>
              <a:gd name="connsiteY3" fmla="*/ 0 h 5604356"/>
            </a:gdLst>
            <a:ahLst/>
            <a:cxnLst>
              <a:cxn ang="0">
                <a:pos x="connsiteX0" y="connsiteY0"/>
              </a:cxn>
              <a:cxn ang="0">
                <a:pos x="connsiteX1" y="connsiteY1"/>
              </a:cxn>
              <a:cxn ang="0">
                <a:pos x="connsiteX2" y="connsiteY2"/>
              </a:cxn>
              <a:cxn ang="0">
                <a:pos x="connsiteX3" y="connsiteY3"/>
              </a:cxn>
            </a:cxnLst>
            <a:rect l="l" t="t" r="r" b="b"/>
            <a:pathLst>
              <a:path w="4764506" h="5604356">
                <a:moveTo>
                  <a:pt x="3924657" y="0"/>
                </a:moveTo>
                <a:lnTo>
                  <a:pt x="4764506" y="839849"/>
                </a:lnTo>
                <a:lnTo>
                  <a:pt x="0" y="5604356"/>
                </a:lnTo>
                <a:lnTo>
                  <a:pt x="0" y="0"/>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23">
            <a:extLst>
              <a:ext uri="{FF2B5EF4-FFF2-40B4-BE49-F238E27FC236}">
                <a16:creationId xmlns:a16="http://schemas.microsoft.com/office/drawing/2014/main" id="{85BA3C18-470B-43EB-9253-0FBA7C39D7B6}"/>
              </a:ext>
            </a:extLst>
          </p:cNvPr>
          <p:cNvSpPr/>
          <p:nvPr/>
        </p:nvSpPr>
        <p:spPr>
          <a:xfrm rot="18900000">
            <a:off x="6361621" y="-2053290"/>
            <a:ext cx="4106584" cy="4106584"/>
          </a:xfrm>
          <a:custGeom>
            <a:avLst/>
            <a:gdLst>
              <a:gd name="connsiteX0" fmla="*/ 0 w 4106584"/>
              <a:gd name="connsiteY0" fmla="*/ 0 h 4106584"/>
              <a:gd name="connsiteX1" fmla="*/ 4106584 w 4106584"/>
              <a:gd name="connsiteY1" fmla="*/ 4106584 h 4106584"/>
              <a:gd name="connsiteX2" fmla="*/ 0 w 4106584"/>
              <a:gd name="connsiteY2" fmla="*/ 4106584 h 4106584"/>
            </a:gdLst>
            <a:ahLst/>
            <a:cxnLst>
              <a:cxn ang="0">
                <a:pos x="connsiteX0" y="connsiteY0"/>
              </a:cxn>
              <a:cxn ang="0">
                <a:pos x="connsiteX1" y="connsiteY1"/>
              </a:cxn>
              <a:cxn ang="0">
                <a:pos x="connsiteX2" y="connsiteY2"/>
              </a:cxn>
            </a:cxnLst>
            <a:rect l="l" t="t" r="r" b="b"/>
            <a:pathLst>
              <a:path w="4106584" h="4106584">
                <a:moveTo>
                  <a:pt x="0" y="0"/>
                </a:moveTo>
                <a:lnTo>
                  <a:pt x="4106584" y="4106584"/>
                </a:lnTo>
                <a:lnTo>
                  <a:pt x="0" y="4106584"/>
                </a:lnTo>
                <a:close/>
              </a:path>
            </a:pathLst>
          </a:custGeom>
          <a:solidFill>
            <a:schemeClr val="accent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a:extLst>
              <a:ext uri="{FF2B5EF4-FFF2-40B4-BE49-F238E27FC236}">
                <a16:creationId xmlns:a16="http://schemas.microsoft.com/office/drawing/2014/main" id="{2BC6885B-3471-4AE8-85BC-9261D09898B6}"/>
              </a:ext>
            </a:extLst>
          </p:cNvPr>
          <p:cNvPicPr>
            <a:picLocks noChangeAspect="1"/>
          </p:cNvPicPr>
          <p:nvPr/>
        </p:nvPicPr>
        <p:blipFill>
          <a:blip r:embed="rId3"/>
          <a:stretch>
            <a:fillRect/>
          </a:stretch>
        </p:blipFill>
        <p:spPr>
          <a:xfrm>
            <a:off x="7664" y="0"/>
            <a:ext cx="1441262" cy="1445988"/>
          </a:xfrm>
          <a:prstGeom prst="rect">
            <a:avLst/>
          </a:prstGeom>
        </p:spPr>
      </p:pic>
    </p:spTree>
    <p:extLst>
      <p:ext uri="{BB962C8B-B14F-4D97-AF65-F5344CB8AC3E}">
        <p14:creationId xmlns:p14="http://schemas.microsoft.com/office/powerpoint/2010/main" val="67213993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1364758" y="92903"/>
            <a:ext cx="9305730" cy="707886"/>
          </a:xfrm>
          <a:prstGeom prst="rect">
            <a:avLst/>
          </a:prstGeom>
        </p:spPr>
        <p:txBody>
          <a:bodyPr wrap="square">
            <a:spAutoFit/>
          </a:bodyPr>
          <a:lstStyle/>
          <a:p>
            <a:pPr algn="ctr"/>
            <a:r>
              <a:rPr lang="en-US" sz="4000" dirty="0" err="1">
                <a:latin typeface="Roboto Light" charset="0"/>
                <a:ea typeface="Roboto Light" charset="0"/>
                <a:cs typeface="Roboto Light" charset="0"/>
              </a:rPr>
              <a:t>Sommaire</a:t>
            </a:r>
            <a:endParaRPr lang="en-US" sz="4000" dirty="0">
              <a:latin typeface="Roboto Light" charset="0"/>
              <a:ea typeface="Roboto Light" charset="0"/>
              <a:cs typeface="Roboto Light" charset="0"/>
            </a:endParaRPr>
          </a:p>
        </p:txBody>
      </p:sp>
      <p:cxnSp>
        <p:nvCxnSpPr>
          <p:cNvPr id="20" name="Straight Connector 34">
            <a:extLst>
              <a:ext uri="{FF2B5EF4-FFF2-40B4-BE49-F238E27FC236}">
                <a16:creationId xmlns:a16="http://schemas.microsoft.com/office/drawing/2014/main" id="{168E88B8-D4C2-446F-969C-6538D2016226}"/>
              </a:ext>
            </a:extLst>
          </p:cNvPr>
          <p:cNvCxnSpPr>
            <a:cxnSpLocks/>
            <a:stCxn id="25" idx="0"/>
            <a:endCxn id="30" idx="0"/>
          </p:cNvCxnSpPr>
          <p:nvPr/>
        </p:nvCxnSpPr>
        <p:spPr>
          <a:xfrm>
            <a:off x="1704479" y="1104195"/>
            <a:ext cx="2773" cy="3340988"/>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Oval 9">
            <a:extLst>
              <a:ext uri="{FF2B5EF4-FFF2-40B4-BE49-F238E27FC236}">
                <a16:creationId xmlns:a16="http://schemas.microsoft.com/office/drawing/2014/main" id="{3D633140-C09B-4E61-9F4D-939AE2D09EBF}"/>
              </a:ext>
            </a:extLst>
          </p:cNvPr>
          <p:cNvSpPr/>
          <p:nvPr/>
        </p:nvSpPr>
        <p:spPr>
          <a:xfrm>
            <a:off x="1361985" y="1104195"/>
            <a:ext cx="684988" cy="684986"/>
          </a:xfrm>
          <a:prstGeom prst="ellipse">
            <a:avLst/>
          </a:prstGeom>
          <a:solidFill>
            <a:schemeClr val="accent3"/>
          </a:solidFill>
          <a:ln>
            <a:noFill/>
          </a:ln>
          <a:effectLst>
            <a:outerShdw blurRad="38100" dist="127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Roboto Medium" charset="0"/>
                <a:ea typeface="Roboto Medium" charset="0"/>
                <a:cs typeface="Roboto Medium" charset="0"/>
              </a:rPr>
              <a:t>1</a:t>
            </a:r>
          </a:p>
        </p:txBody>
      </p:sp>
      <p:sp>
        <p:nvSpPr>
          <p:cNvPr id="26" name="Rectangle 25">
            <a:extLst>
              <a:ext uri="{FF2B5EF4-FFF2-40B4-BE49-F238E27FC236}">
                <a16:creationId xmlns:a16="http://schemas.microsoft.com/office/drawing/2014/main" id="{F2FD87FD-46AE-4D4A-835A-DC4F43F4F507}"/>
              </a:ext>
            </a:extLst>
          </p:cNvPr>
          <p:cNvSpPr/>
          <p:nvPr/>
        </p:nvSpPr>
        <p:spPr>
          <a:xfrm>
            <a:off x="2101999" y="1262022"/>
            <a:ext cx="1443024" cy="369332"/>
          </a:xfrm>
          <a:prstGeom prst="rect">
            <a:avLst/>
          </a:prstGeom>
        </p:spPr>
        <p:txBody>
          <a:bodyPr wrap="none" lIns="91440">
            <a:spAutoFit/>
          </a:bodyPr>
          <a:lstStyle/>
          <a:p>
            <a:r>
              <a:rPr lang="en-US" dirty="0">
                <a:solidFill>
                  <a:schemeClr val="accent3"/>
                </a:solidFill>
                <a:latin typeface="Roboto Medium" charset="0"/>
                <a:ea typeface="Roboto Medium" charset="0"/>
                <a:cs typeface="Roboto Medium" charset="0"/>
              </a:rPr>
              <a:t>Introduction</a:t>
            </a:r>
          </a:p>
        </p:txBody>
      </p:sp>
      <p:sp>
        <p:nvSpPr>
          <p:cNvPr id="27" name="Rectangle 26">
            <a:extLst>
              <a:ext uri="{FF2B5EF4-FFF2-40B4-BE49-F238E27FC236}">
                <a16:creationId xmlns:a16="http://schemas.microsoft.com/office/drawing/2014/main" id="{B53DAA45-BDB7-431C-8A00-1D4BC5DE034F}"/>
              </a:ext>
            </a:extLst>
          </p:cNvPr>
          <p:cNvSpPr/>
          <p:nvPr/>
        </p:nvSpPr>
        <p:spPr>
          <a:xfrm>
            <a:off x="2058686" y="4948144"/>
            <a:ext cx="2717516" cy="1754326"/>
          </a:xfrm>
          <a:prstGeom prst="rect">
            <a:avLst/>
          </a:prstGeom>
        </p:spPr>
        <p:txBody>
          <a:bodyPr wrap="square">
            <a:spAutoFit/>
          </a:bodyPr>
          <a:lstStyle/>
          <a:p>
            <a:pPr marL="380990" indent="-380990">
              <a:buClr>
                <a:schemeClr val="accent2"/>
              </a:buClr>
              <a:buFont typeface="+mj-lt"/>
              <a:buAutoNum type="arabicPeriod"/>
            </a:pPr>
            <a:r>
              <a:rPr lang="en-US" sz="1200" dirty="0" err="1">
                <a:solidFill>
                  <a:schemeClr val="tx1">
                    <a:lumMod val="50000"/>
                    <a:lumOff val="50000"/>
                  </a:schemeClr>
                </a:solidFill>
                <a:latin typeface="Roboto Light" charset="0"/>
                <a:ea typeface="Roboto Light" charset="0"/>
                <a:cs typeface="Roboto Light" charset="0"/>
              </a:rPr>
              <a:t>Diagramme</a:t>
            </a:r>
            <a:r>
              <a:rPr lang="en-US" sz="1200" dirty="0">
                <a:solidFill>
                  <a:schemeClr val="tx1">
                    <a:lumMod val="50000"/>
                    <a:lumOff val="50000"/>
                  </a:schemeClr>
                </a:solidFill>
                <a:latin typeface="Roboto Light" charset="0"/>
                <a:ea typeface="Roboto Light" charset="0"/>
                <a:cs typeface="Roboto Light" charset="0"/>
              </a:rPr>
              <a:t> </a:t>
            </a:r>
            <a:r>
              <a:rPr lang="en-US" sz="1200" dirty="0" err="1">
                <a:solidFill>
                  <a:schemeClr val="tx1">
                    <a:lumMod val="50000"/>
                    <a:lumOff val="50000"/>
                  </a:schemeClr>
                </a:solidFill>
                <a:latin typeface="Roboto Light" charset="0"/>
                <a:ea typeface="Roboto Light" charset="0"/>
                <a:cs typeface="Roboto Light" charset="0"/>
              </a:rPr>
              <a:t>d’architecture</a:t>
            </a: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r>
              <a:rPr lang="en-US" sz="1200" dirty="0">
                <a:solidFill>
                  <a:schemeClr val="tx1">
                    <a:lumMod val="50000"/>
                    <a:lumOff val="50000"/>
                  </a:schemeClr>
                </a:solidFill>
                <a:latin typeface="Roboto Light" charset="0"/>
                <a:ea typeface="Roboto Light" charset="0"/>
                <a:cs typeface="Roboto Light" charset="0"/>
              </a:rPr>
              <a:t>Conditions </a:t>
            </a:r>
            <a:r>
              <a:rPr lang="en-US" sz="1200" dirty="0" err="1">
                <a:solidFill>
                  <a:schemeClr val="tx1">
                    <a:lumMod val="50000"/>
                    <a:lumOff val="50000"/>
                  </a:schemeClr>
                </a:solidFill>
                <a:latin typeface="Roboto Light" charset="0"/>
                <a:ea typeface="Roboto Light" charset="0"/>
                <a:cs typeface="Roboto Light" charset="0"/>
              </a:rPr>
              <a:t>requises</a:t>
            </a: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r>
              <a:rPr lang="en-US" sz="1200" dirty="0" err="1">
                <a:solidFill>
                  <a:schemeClr val="tx1">
                    <a:lumMod val="50000"/>
                    <a:lumOff val="50000"/>
                  </a:schemeClr>
                </a:solidFill>
                <a:latin typeface="Roboto Light" charset="0"/>
                <a:ea typeface="Roboto Light" charset="0"/>
                <a:cs typeface="Roboto Light" charset="0"/>
              </a:rPr>
              <a:t>Gouvernance</a:t>
            </a:r>
            <a:r>
              <a:rPr lang="en-US" sz="1200" dirty="0">
                <a:solidFill>
                  <a:schemeClr val="tx1">
                    <a:lumMod val="50000"/>
                    <a:lumOff val="50000"/>
                  </a:schemeClr>
                </a:solidFill>
                <a:latin typeface="Roboto Light" charset="0"/>
                <a:ea typeface="Roboto Light" charset="0"/>
                <a:cs typeface="Roboto Light" charset="0"/>
              </a:rPr>
              <a:t> et </a:t>
            </a:r>
            <a:r>
              <a:rPr lang="en-US" sz="1200" dirty="0" err="1">
                <a:solidFill>
                  <a:schemeClr val="tx1">
                    <a:lumMod val="50000"/>
                    <a:lumOff val="50000"/>
                  </a:schemeClr>
                </a:solidFill>
                <a:latin typeface="Roboto Light" charset="0"/>
                <a:ea typeface="Roboto Light" charset="0"/>
                <a:cs typeface="Roboto Light" charset="0"/>
              </a:rPr>
              <a:t>responsabilités</a:t>
            </a: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r>
              <a:rPr lang="en-US" sz="1200" dirty="0" err="1">
                <a:solidFill>
                  <a:schemeClr val="tx1">
                    <a:lumMod val="50000"/>
                    <a:lumOff val="50000"/>
                  </a:schemeClr>
                </a:solidFill>
                <a:latin typeface="Roboto Light" charset="0"/>
                <a:ea typeface="Roboto Light" charset="0"/>
                <a:cs typeface="Roboto Light" charset="0"/>
              </a:rPr>
              <a:t>Intégration</a:t>
            </a:r>
            <a:r>
              <a:rPr lang="en-US" sz="1200" dirty="0">
                <a:solidFill>
                  <a:schemeClr val="tx1">
                    <a:lumMod val="50000"/>
                    <a:lumOff val="50000"/>
                  </a:schemeClr>
                </a:solidFill>
                <a:latin typeface="Roboto Light" charset="0"/>
                <a:ea typeface="Roboto Light" charset="0"/>
                <a:cs typeface="Roboto Light" charset="0"/>
              </a:rPr>
              <a:t> </a:t>
            </a:r>
            <a:r>
              <a:rPr lang="en-US" sz="1200" dirty="0" err="1">
                <a:solidFill>
                  <a:schemeClr val="tx1">
                    <a:lumMod val="50000"/>
                    <a:lumOff val="50000"/>
                  </a:schemeClr>
                </a:solidFill>
                <a:latin typeface="Roboto Light" charset="0"/>
                <a:ea typeface="Roboto Light" charset="0"/>
                <a:cs typeface="Roboto Light" charset="0"/>
              </a:rPr>
              <a:t>continu</a:t>
            </a: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r>
              <a:rPr lang="en-US" sz="1200" dirty="0" err="1">
                <a:solidFill>
                  <a:schemeClr val="tx1">
                    <a:lumMod val="50000"/>
                    <a:lumOff val="50000"/>
                  </a:schemeClr>
                </a:solidFill>
                <a:latin typeface="Roboto Light" charset="0"/>
                <a:ea typeface="Roboto Light" charset="0"/>
                <a:cs typeface="Roboto Light" charset="0"/>
              </a:rPr>
              <a:t>Déploiement</a:t>
            </a:r>
            <a:endParaRPr lang="en-US" sz="1200" dirty="0">
              <a:solidFill>
                <a:schemeClr val="tx1">
                  <a:lumMod val="50000"/>
                  <a:lumOff val="50000"/>
                </a:schemeClr>
              </a:solidFill>
              <a:latin typeface="Roboto Light" charset="0"/>
              <a:ea typeface="Roboto Light" charset="0"/>
              <a:cs typeface="Roboto Light" charset="0"/>
            </a:endParaRPr>
          </a:p>
        </p:txBody>
      </p:sp>
      <p:cxnSp>
        <p:nvCxnSpPr>
          <p:cNvPr id="28" name="Straight Connector 34">
            <a:extLst>
              <a:ext uri="{FF2B5EF4-FFF2-40B4-BE49-F238E27FC236}">
                <a16:creationId xmlns:a16="http://schemas.microsoft.com/office/drawing/2014/main" id="{D1BF2EE9-25BE-4FD9-973F-0B6D96BB1CE6}"/>
              </a:ext>
            </a:extLst>
          </p:cNvPr>
          <p:cNvCxnSpPr>
            <a:cxnSpLocks/>
          </p:cNvCxnSpPr>
          <p:nvPr/>
        </p:nvCxnSpPr>
        <p:spPr>
          <a:xfrm>
            <a:off x="4737242" y="748954"/>
            <a:ext cx="2539858" cy="0"/>
          </a:xfrm>
          <a:prstGeom prst="line">
            <a:avLst/>
          </a:prstGeom>
          <a:ln w="254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Oval 9">
            <a:extLst>
              <a:ext uri="{FF2B5EF4-FFF2-40B4-BE49-F238E27FC236}">
                <a16:creationId xmlns:a16="http://schemas.microsoft.com/office/drawing/2014/main" id="{F9881507-AC40-41A6-A85B-50CAEDD7F294}"/>
              </a:ext>
            </a:extLst>
          </p:cNvPr>
          <p:cNvSpPr/>
          <p:nvPr/>
        </p:nvSpPr>
        <p:spPr>
          <a:xfrm>
            <a:off x="1364758" y="4445183"/>
            <a:ext cx="684988" cy="684986"/>
          </a:xfrm>
          <a:prstGeom prst="ellipse">
            <a:avLst/>
          </a:prstGeom>
          <a:solidFill>
            <a:schemeClr val="accent3"/>
          </a:solidFill>
          <a:ln>
            <a:noFill/>
          </a:ln>
          <a:effectLst>
            <a:outerShdw blurRad="38100" dist="127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Roboto Medium" charset="0"/>
                <a:ea typeface="Roboto Medium" charset="0"/>
                <a:cs typeface="Roboto Medium" charset="0"/>
              </a:rPr>
              <a:t>2</a:t>
            </a:r>
          </a:p>
        </p:txBody>
      </p:sp>
      <p:cxnSp>
        <p:nvCxnSpPr>
          <p:cNvPr id="32" name="Connecteur droit 31">
            <a:extLst>
              <a:ext uri="{FF2B5EF4-FFF2-40B4-BE49-F238E27FC236}">
                <a16:creationId xmlns:a16="http://schemas.microsoft.com/office/drawing/2014/main" id="{4725D2F9-826A-4612-8BA3-16C07F2EB149}"/>
              </a:ext>
            </a:extLst>
          </p:cNvPr>
          <p:cNvCxnSpPr/>
          <p:nvPr/>
        </p:nvCxnSpPr>
        <p:spPr>
          <a:xfrm>
            <a:off x="0" y="0"/>
            <a:ext cx="12192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60D7F9E-11DB-473A-BDED-167AAA8873A4}"/>
              </a:ext>
            </a:extLst>
          </p:cNvPr>
          <p:cNvSpPr/>
          <p:nvPr/>
        </p:nvSpPr>
        <p:spPr>
          <a:xfrm>
            <a:off x="2058807" y="4548289"/>
            <a:ext cx="4669868" cy="369332"/>
          </a:xfrm>
          <a:prstGeom prst="rect">
            <a:avLst/>
          </a:prstGeom>
        </p:spPr>
        <p:txBody>
          <a:bodyPr wrap="none" lIns="91440">
            <a:spAutoFit/>
          </a:bodyPr>
          <a:lstStyle/>
          <a:p>
            <a:r>
              <a:rPr lang="en-US" dirty="0" err="1">
                <a:solidFill>
                  <a:schemeClr val="accent3"/>
                </a:solidFill>
                <a:latin typeface="Roboto Medium" charset="0"/>
                <a:ea typeface="Roboto Medium" charset="0"/>
                <a:cs typeface="Roboto Medium" charset="0"/>
              </a:rPr>
              <a:t>Présentation</a:t>
            </a:r>
            <a:r>
              <a:rPr lang="en-US" dirty="0">
                <a:solidFill>
                  <a:schemeClr val="accent3"/>
                </a:solidFill>
                <a:latin typeface="Roboto Medium" charset="0"/>
                <a:ea typeface="Roboto Medium" charset="0"/>
                <a:cs typeface="Roboto Medium" charset="0"/>
              </a:rPr>
              <a:t> des </a:t>
            </a:r>
            <a:r>
              <a:rPr lang="en-US" dirty="0" err="1">
                <a:solidFill>
                  <a:schemeClr val="accent3"/>
                </a:solidFill>
                <a:latin typeface="Roboto Medium" charset="0"/>
                <a:ea typeface="Roboto Medium" charset="0"/>
                <a:cs typeface="Roboto Medium" charset="0"/>
              </a:rPr>
              <a:t>éléments</a:t>
            </a:r>
            <a:r>
              <a:rPr lang="en-US" dirty="0">
                <a:solidFill>
                  <a:schemeClr val="accent3"/>
                </a:solidFill>
                <a:latin typeface="Roboto Medium" charset="0"/>
                <a:ea typeface="Roboto Medium" charset="0"/>
                <a:cs typeface="Roboto Medium" charset="0"/>
              </a:rPr>
              <a:t> de </a:t>
            </a:r>
            <a:r>
              <a:rPr lang="en-US" dirty="0" err="1">
                <a:solidFill>
                  <a:schemeClr val="accent3"/>
                </a:solidFill>
                <a:latin typeface="Roboto Medium" charset="0"/>
                <a:ea typeface="Roboto Medium" charset="0"/>
                <a:cs typeface="Roboto Medium" charset="0"/>
              </a:rPr>
              <a:t>l’architecture</a:t>
            </a:r>
            <a:endParaRPr lang="en-US" dirty="0">
              <a:solidFill>
                <a:schemeClr val="accent3"/>
              </a:solidFill>
              <a:latin typeface="Roboto Medium" charset="0"/>
              <a:ea typeface="Roboto Medium" charset="0"/>
              <a:cs typeface="Roboto Medium" charset="0"/>
            </a:endParaRPr>
          </a:p>
        </p:txBody>
      </p:sp>
      <p:sp>
        <p:nvSpPr>
          <p:cNvPr id="36" name="Slide Number Placeholder 3">
            <a:extLst>
              <a:ext uri="{FF2B5EF4-FFF2-40B4-BE49-F238E27FC236}">
                <a16:creationId xmlns:a16="http://schemas.microsoft.com/office/drawing/2014/main" id="{958FA19A-0EAE-48C9-A964-49500081775C}"/>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2</a:t>
            </a:fld>
            <a:endParaRPr lang="en-US" dirty="0"/>
          </a:p>
        </p:txBody>
      </p:sp>
      <p:sp>
        <p:nvSpPr>
          <p:cNvPr id="56" name="Rectangle 55">
            <a:extLst>
              <a:ext uri="{FF2B5EF4-FFF2-40B4-BE49-F238E27FC236}">
                <a16:creationId xmlns:a16="http://schemas.microsoft.com/office/drawing/2014/main" id="{BB97B325-8B23-4A20-BADB-ABABEF96537B}"/>
              </a:ext>
            </a:extLst>
          </p:cNvPr>
          <p:cNvSpPr/>
          <p:nvPr/>
        </p:nvSpPr>
        <p:spPr>
          <a:xfrm>
            <a:off x="2058685" y="1661877"/>
            <a:ext cx="3468811" cy="1015663"/>
          </a:xfrm>
          <a:prstGeom prst="rect">
            <a:avLst/>
          </a:prstGeom>
        </p:spPr>
        <p:txBody>
          <a:bodyPr wrap="square">
            <a:spAutoFit/>
          </a:bodyPr>
          <a:lstStyle/>
          <a:p>
            <a:pPr marL="380990" indent="-380990">
              <a:buClr>
                <a:schemeClr val="accent2"/>
              </a:buClr>
              <a:buFont typeface="+mj-lt"/>
              <a:buAutoNum type="arabicPeriod"/>
            </a:pPr>
            <a:r>
              <a:rPr lang="en-US" sz="1200" dirty="0" err="1">
                <a:solidFill>
                  <a:schemeClr val="tx1">
                    <a:lumMod val="50000"/>
                    <a:lumOff val="50000"/>
                  </a:schemeClr>
                </a:solidFill>
                <a:latin typeface="Roboto Light" charset="0"/>
                <a:ea typeface="Roboto Light" charset="0"/>
                <a:cs typeface="Roboto Light" charset="0"/>
              </a:rPr>
              <a:t>Contexte</a:t>
            </a:r>
            <a:r>
              <a:rPr lang="en-US" sz="1200" dirty="0">
                <a:solidFill>
                  <a:schemeClr val="tx1">
                    <a:lumMod val="50000"/>
                    <a:lumOff val="50000"/>
                  </a:schemeClr>
                </a:solidFill>
                <a:latin typeface="Roboto Light" charset="0"/>
                <a:ea typeface="Roboto Light" charset="0"/>
                <a:cs typeface="Roboto Light" charset="0"/>
              </a:rPr>
              <a:t>, </a:t>
            </a:r>
            <a:r>
              <a:rPr lang="en-US" sz="1200" dirty="0" err="1">
                <a:solidFill>
                  <a:schemeClr val="tx1">
                    <a:lumMod val="50000"/>
                    <a:lumOff val="50000"/>
                  </a:schemeClr>
                </a:solidFill>
                <a:latin typeface="Roboto Light" charset="0"/>
                <a:ea typeface="Roboto Light" charset="0"/>
                <a:cs typeface="Roboto Light" charset="0"/>
              </a:rPr>
              <a:t>objectifs</a:t>
            </a:r>
            <a:r>
              <a:rPr lang="en-US" sz="1200" dirty="0">
                <a:solidFill>
                  <a:schemeClr val="tx1">
                    <a:lumMod val="50000"/>
                    <a:lumOff val="50000"/>
                  </a:schemeClr>
                </a:solidFill>
                <a:latin typeface="Roboto Light" charset="0"/>
                <a:ea typeface="Roboto Light" charset="0"/>
                <a:cs typeface="Roboto Light" charset="0"/>
              </a:rPr>
              <a:t> et </a:t>
            </a:r>
            <a:r>
              <a:rPr lang="en-US" sz="1200" dirty="0" err="1">
                <a:solidFill>
                  <a:schemeClr val="tx1">
                    <a:lumMod val="50000"/>
                    <a:lumOff val="50000"/>
                  </a:schemeClr>
                </a:solidFill>
                <a:latin typeface="Roboto Light" charset="0"/>
                <a:ea typeface="Roboto Light" charset="0"/>
                <a:cs typeface="Roboto Light" charset="0"/>
              </a:rPr>
              <a:t>périmètre</a:t>
            </a:r>
            <a:r>
              <a:rPr lang="en-US" sz="1200" dirty="0">
                <a:solidFill>
                  <a:schemeClr val="tx1">
                    <a:lumMod val="50000"/>
                    <a:lumOff val="50000"/>
                  </a:schemeClr>
                </a:solidFill>
                <a:latin typeface="Roboto Light" charset="0"/>
                <a:ea typeface="Roboto Light" charset="0"/>
                <a:cs typeface="Roboto Light" charset="0"/>
              </a:rPr>
              <a:t> du </a:t>
            </a:r>
            <a:r>
              <a:rPr lang="en-US" sz="1200" dirty="0" err="1">
                <a:solidFill>
                  <a:schemeClr val="tx1">
                    <a:lumMod val="50000"/>
                    <a:lumOff val="50000"/>
                  </a:schemeClr>
                </a:solidFill>
                <a:latin typeface="Roboto Light" charset="0"/>
                <a:ea typeface="Roboto Light" charset="0"/>
                <a:cs typeface="Roboto Light" charset="0"/>
              </a:rPr>
              <a:t>projet</a:t>
            </a: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r>
              <a:rPr lang="en-US" sz="1200" dirty="0" err="1">
                <a:solidFill>
                  <a:schemeClr val="tx1">
                    <a:lumMod val="50000"/>
                    <a:lumOff val="50000"/>
                  </a:schemeClr>
                </a:solidFill>
                <a:latin typeface="Roboto Light" charset="0"/>
                <a:ea typeface="Roboto Light" charset="0"/>
                <a:cs typeface="Roboto Light" charset="0"/>
              </a:rPr>
              <a:t>Mesure</a:t>
            </a:r>
            <a:r>
              <a:rPr lang="en-US" sz="1200" dirty="0">
                <a:solidFill>
                  <a:schemeClr val="tx1">
                    <a:lumMod val="50000"/>
                    <a:lumOff val="50000"/>
                  </a:schemeClr>
                </a:solidFill>
                <a:latin typeface="Roboto Light" charset="0"/>
                <a:ea typeface="Roboto Light" charset="0"/>
                <a:cs typeface="Roboto Light" charset="0"/>
              </a:rPr>
              <a:t> de succès</a:t>
            </a:r>
          </a:p>
          <a:p>
            <a:pPr marL="380990" indent="-380990">
              <a:buClr>
                <a:schemeClr val="accent2"/>
              </a:buClr>
              <a:buFont typeface="+mj-lt"/>
              <a:buAutoNum type="arabicPeriod"/>
            </a:pPr>
            <a:endParaRPr lang="en-US" sz="1200" dirty="0">
              <a:solidFill>
                <a:schemeClr val="tx1">
                  <a:lumMod val="50000"/>
                  <a:lumOff val="50000"/>
                </a:schemeClr>
              </a:solidFill>
              <a:latin typeface="Roboto Light" charset="0"/>
              <a:ea typeface="Roboto Light" charset="0"/>
              <a:cs typeface="Roboto Light" charset="0"/>
            </a:endParaRPr>
          </a:p>
          <a:p>
            <a:pPr marL="380990" indent="-380990">
              <a:buClr>
                <a:schemeClr val="accent2"/>
              </a:buClr>
              <a:buFont typeface="+mj-lt"/>
              <a:buAutoNum type="arabicPeriod"/>
            </a:pPr>
            <a:r>
              <a:rPr lang="en-US" sz="1200" dirty="0" err="1">
                <a:solidFill>
                  <a:schemeClr val="tx1">
                    <a:lumMod val="50000"/>
                    <a:lumOff val="50000"/>
                  </a:schemeClr>
                </a:solidFill>
                <a:latin typeface="Roboto Light" charset="0"/>
                <a:ea typeface="Roboto Light" charset="0"/>
                <a:cs typeface="Roboto Light" charset="0"/>
              </a:rPr>
              <a:t>Présentation</a:t>
            </a:r>
            <a:r>
              <a:rPr lang="en-US" sz="1200" dirty="0">
                <a:solidFill>
                  <a:schemeClr val="tx1">
                    <a:lumMod val="50000"/>
                    <a:lumOff val="50000"/>
                  </a:schemeClr>
                </a:solidFill>
                <a:latin typeface="Roboto Light" charset="0"/>
                <a:ea typeface="Roboto Light" charset="0"/>
                <a:cs typeface="Roboto Light" charset="0"/>
              </a:rPr>
              <a:t> des documents</a:t>
            </a:r>
          </a:p>
        </p:txBody>
      </p:sp>
    </p:spTree>
    <p:extLst>
      <p:ext uri="{BB962C8B-B14F-4D97-AF65-F5344CB8AC3E}">
        <p14:creationId xmlns:p14="http://schemas.microsoft.com/office/powerpoint/2010/main" val="197480640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1364758" y="92903"/>
            <a:ext cx="9305730" cy="707886"/>
          </a:xfrm>
          <a:prstGeom prst="rect">
            <a:avLst/>
          </a:prstGeom>
        </p:spPr>
        <p:txBody>
          <a:bodyPr wrap="square">
            <a:spAutoFit/>
          </a:bodyPr>
          <a:lstStyle/>
          <a:p>
            <a:pPr algn="ctr"/>
            <a:r>
              <a:rPr lang="en-US" sz="4000" dirty="0">
                <a:latin typeface="Roboto Light" charset="0"/>
                <a:ea typeface="Roboto Light" charset="0"/>
                <a:cs typeface="Roboto Light" charset="0"/>
              </a:rPr>
              <a:t>Introduction</a:t>
            </a:r>
          </a:p>
        </p:txBody>
      </p:sp>
      <p:sp>
        <p:nvSpPr>
          <p:cNvPr id="69" name="Freeform 37">
            <a:extLst>
              <a:ext uri="{FF2B5EF4-FFF2-40B4-BE49-F238E27FC236}">
                <a16:creationId xmlns:a16="http://schemas.microsoft.com/office/drawing/2014/main" id="{C9660DDB-F7C9-4EB5-94B6-0137E8570FA2}"/>
              </a:ext>
            </a:extLst>
          </p:cNvPr>
          <p:cNvSpPr/>
          <p:nvPr/>
        </p:nvSpPr>
        <p:spPr>
          <a:xfrm rot="18900000">
            <a:off x="536614" y="5581005"/>
            <a:ext cx="2553990" cy="2553991"/>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36">
            <a:extLst>
              <a:ext uri="{FF2B5EF4-FFF2-40B4-BE49-F238E27FC236}">
                <a16:creationId xmlns:a16="http://schemas.microsoft.com/office/drawing/2014/main" id="{794AC913-3F08-4F79-9460-8BC8C1F336B3}"/>
              </a:ext>
            </a:extLst>
          </p:cNvPr>
          <p:cNvSpPr/>
          <p:nvPr/>
        </p:nvSpPr>
        <p:spPr>
          <a:xfrm rot="18900000">
            <a:off x="-1135325" y="3708715"/>
            <a:ext cx="2559410" cy="2967775"/>
          </a:xfrm>
          <a:custGeom>
            <a:avLst/>
            <a:gdLst>
              <a:gd name="connsiteX0" fmla="*/ 2559410 w 2559410"/>
              <a:gd name="connsiteY0" fmla="*/ 0 h 2967775"/>
              <a:gd name="connsiteX1" fmla="*/ 2559410 w 2559410"/>
              <a:gd name="connsiteY1" fmla="*/ 2967775 h 2967775"/>
              <a:gd name="connsiteX2" fmla="*/ 408364 w 2559410"/>
              <a:gd name="connsiteY2" fmla="*/ 2967774 h 2967775"/>
              <a:gd name="connsiteX3" fmla="*/ 0 w 2559410"/>
              <a:gd name="connsiteY3" fmla="*/ 2559411 h 2967775"/>
            </a:gdLst>
            <a:ahLst/>
            <a:cxnLst>
              <a:cxn ang="0">
                <a:pos x="connsiteX0" y="connsiteY0"/>
              </a:cxn>
              <a:cxn ang="0">
                <a:pos x="connsiteX1" y="connsiteY1"/>
              </a:cxn>
              <a:cxn ang="0">
                <a:pos x="connsiteX2" y="connsiteY2"/>
              </a:cxn>
              <a:cxn ang="0">
                <a:pos x="connsiteX3" y="connsiteY3"/>
              </a:cxn>
            </a:cxnLst>
            <a:rect l="l" t="t" r="r" b="b"/>
            <a:pathLst>
              <a:path w="2559410" h="2967775">
                <a:moveTo>
                  <a:pt x="2559410" y="0"/>
                </a:moveTo>
                <a:lnTo>
                  <a:pt x="2559410" y="2967775"/>
                </a:lnTo>
                <a:lnTo>
                  <a:pt x="408364" y="2967774"/>
                </a:lnTo>
                <a:lnTo>
                  <a:pt x="0" y="2559411"/>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
            <a:extLst>
              <a:ext uri="{FF2B5EF4-FFF2-40B4-BE49-F238E27FC236}">
                <a16:creationId xmlns:a16="http://schemas.microsoft.com/office/drawing/2014/main" id="{746CCCF8-7718-4822-8303-1E34B10BED6C}"/>
              </a:ext>
            </a:extLst>
          </p:cNvPr>
          <p:cNvSpPr/>
          <p:nvPr/>
        </p:nvSpPr>
        <p:spPr>
          <a:xfrm>
            <a:off x="3893615" y="132671"/>
            <a:ext cx="684988" cy="684986"/>
          </a:xfrm>
          <a:prstGeom prst="ellipse">
            <a:avLst/>
          </a:prstGeom>
          <a:solidFill>
            <a:schemeClr val="accent3"/>
          </a:solidFill>
          <a:ln>
            <a:noFill/>
          </a:ln>
          <a:effectLst>
            <a:outerShdw blurRad="38100" dist="127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Roboto Medium" charset="0"/>
                <a:ea typeface="Roboto Medium" charset="0"/>
                <a:cs typeface="Roboto Medium" charset="0"/>
              </a:rPr>
              <a:t>1</a:t>
            </a:r>
          </a:p>
        </p:txBody>
      </p:sp>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3</a:t>
            </a:fld>
            <a:endParaRPr lang="en-US" dirty="0"/>
          </a:p>
        </p:txBody>
      </p:sp>
      <p:sp>
        <p:nvSpPr>
          <p:cNvPr id="33" name="ZoneTexte 32">
            <a:extLst>
              <a:ext uri="{FF2B5EF4-FFF2-40B4-BE49-F238E27FC236}">
                <a16:creationId xmlns:a16="http://schemas.microsoft.com/office/drawing/2014/main" id="{0E1B9315-3A9A-43FA-836A-EC58E7FBFCBA}"/>
              </a:ext>
            </a:extLst>
          </p:cNvPr>
          <p:cNvSpPr txBox="1"/>
          <p:nvPr/>
        </p:nvSpPr>
        <p:spPr>
          <a:xfrm>
            <a:off x="7063366" y="3681337"/>
            <a:ext cx="3838850" cy="369332"/>
          </a:xfrm>
          <a:prstGeom prst="rect">
            <a:avLst/>
          </a:prstGeom>
          <a:noFill/>
        </p:spPr>
        <p:txBody>
          <a:bodyPr wrap="square" rtlCol="0">
            <a:spAutoFit/>
          </a:bodyPr>
          <a:lstStyle/>
          <a:p>
            <a:r>
              <a:rPr lang="fr-FR" dirty="0">
                <a:effectLst/>
                <a:latin typeface="Arial" panose="020B0604020202020204" pitchFamily="34" charset="0"/>
              </a:rPr>
              <a:t>- Tirer profit de la géolocalisation</a:t>
            </a:r>
            <a:endParaRPr lang="fr-FR" dirty="0"/>
          </a:p>
        </p:txBody>
      </p:sp>
      <p:sp>
        <p:nvSpPr>
          <p:cNvPr id="35" name="ZoneTexte 34">
            <a:extLst>
              <a:ext uri="{FF2B5EF4-FFF2-40B4-BE49-F238E27FC236}">
                <a16:creationId xmlns:a16="http://schemas.microsoft.com/office/drawing/2014/main" id="{FD69B83F-B534-48A7-B364-C217ED2A9709}"/>
              </a:ext>
            </a:extLst>
          </p:cNvPr>
          <p:cNvSpPr txBox="1"/>
          <p:nvPr/>
        </p:nvSpPr>
        <p:spPr>
          <a:xfrm>
            <a:off x="2974109" y="1089459"/>
            <a:ext cx="1148812" cy="369332"/>
          </a:xfrm>
          <a:prstGeom prst="rect">
            <a:avLst/>
          </a:prstGeom>
          <a:noFill/>
        </p:spPr>
        <p:txBody>
          <a:bodyPr wrap="square" rtlCol="0">
            <a:spAutoFit/>
          </a:bodyPr>
          <a:lstStyle/>
          <a:p>
            <a:r>
              <a:rPr lang="fr-FR" b="1" u="sng" dirty="0"/>
              <a:t>Contexte</a:t>
            </a:r>
          </a:p>
        </p:txBody>
      </p:sp>
      <p:sp>
        <p:nvSpPr>
          <p:cNvPr id="37" name="ZoneTexte 36">
            <a:extLst>
              <a:ext uri="{FF2B5EF4-FFF2-40B4-BE49-F238E27FC236}">
                <a16:creationId xmlns:a16="http://schemas.microsoft.com/office/drawing/2014/main" id="{764939FB-4E44-4B91-8C16-66203E807EB4}"/>
              </a:ext>
            </a:extLst>
          </p:cNvPr>
          <p:cNvSpPr txBox="1"/>
          <p:nvPr/>
        </p:nvSpPr>
        <p:spPr>
          <a:xfrm>
            <a:off x="7096766" y="1089459"/>
            <a:ext cx="1148811" cy="369332"/>
          </a:xfrm>
          <a:prstGeom prst="rect">
            <a:avLst/>
          </a:prstGeom>
          <a:noFill/>
        </p:spPr>
        <p:txBody>
          <a:bodyPr wrap="square" rtlCol="0">
            <a:spAutoFit/>
          </a:bodyPr>
          <a:lstStyle/>
          <a:p>
            <a:r>
              <a:rPr lang="fr-FR" b="1" u="sng" dirty="0"/>
              <a:t>Objectif</a:t>
            </a:r>
          </a:p>
        </p:txBody>
      </p:sp>
      <p:sp>
        <p:nvSpPr>
          <p:cNvPr id="38" name="ZoneTexte 37">
            <a:extLst>
              <a:ext uri="{FF2B5EF4-FFF2-40B4-BE49-F238E27FC236}">
                <a16:creationId xmlns:a16="http://schemas.microsoft.com/office/drawing/2014/main" id="{2CA5248E-7D06-43FC-A17C-9BF88E7B6520}"/>
              </a:ext>
            </a:extLst>
          </p:cNvPr>
          <p:cNvSpPr txBox="1"/>
          <p:nvPr/>
        </p:nvSpPr>
        <p:spPr>
          <a:xfrm>
            <a:off x="7063366" y="3004964"/>
            <a:ext cx="3962897" cy="646331"/>
          </a:xfrm>
          <a:prstGeom prst="rect">
            <a:avLst/>
          </a:prstGeom>
          <a:noFill/>
        </p:spPr>
        <p:txBody>
          <a:bodyPr wrap="square" rtlCol="0">
            <a:spAutoFit/>
          </a:bodyPr>
          <a:lstStyle/>
          <a:p>
            <a:r>
              <a:rPr lang="fr-FR" dirty="0">
                <a:effectLst/>
                <a:latin typeface="Arial" panose="020B0604020202020204" pitchFamily="34" charset="0"/>
              </a:rPr>
              <a:t>- </a:t>
            </a:r>
            <a:r>
              <a:rPr lang="fr-FR" dirty="0">
                <a:latin typeface="Arial" panose="020B0604020202020204" pitchFamily="34" charset="0"/>
              </a:rPr>
              <a:t>Disponibilité internationale (malgré les fuseaux horaires)</a:t>
            </a:r>
            <a:endParaRPr lang="fr-FR"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523220"/>
          </a:xfrm>
          <a:prstGeom prst="rect">
            <a:avLst/>
          </a:prstGeom>
          <a:noFill/>
        </p:spPr>
        <p:txBody>
          <a:bodyPr wrap="square" rtlCol="0">
            <a:spAutoFit/>
          </a:bodyPr>
          <a:lstStyle/>
          <a:p>
            <a:pPr>
              <a:buClr>
                <a:schemeClr val="accent2"/>
              </a:buClr>
            </a:pPr>
            <a:r>
              <a:rPr lang="fr-FR" sz="1400" dirty="0">
                <a:solidFill>
                  <a:schemeClr val="bg1"/>
                </a:solidFill>
                <a:latin typeface="Roboto Light" charset="0"/>
                <a:ea typeface="Roboto Light" charset="0"/>
                <a:cs typeface="Roboto Light" charset="0"/>
              </a:rPr>
              <a:t>1. Contexte, objectifs et périmètre du projet</a:t>
            </a:r>
          </a:p>
        </p:txBody>
      </p:sp>
      <p:cxnSp>
        <p:nvCxnSpPr>
          <p:cNvPr id="11" name="Connecteur droit avec flèche 10">
            <a:extLst>
              <a:ext uri="{FF2B5EF4-FFF2-40B4-BE49-F238E27FC236}">
                <a16:creationId xmlns:a16="http://schemas.microsoft.com/office/drawing/2014/main" id="{CDF48CE3-860C-4E52-B626-CE339C278350}"/>
              </a:ext>
            </a:extLst>
          </p:cNvPr>
          <p:cNvCxnSpPr>
            <a:cxnSpLocks/>
            <a:stCxn id="30" idx="2"/>
            <a:endCxn id="17" idx="0"/>
          </p:cNvCxnSpPr>
          <p:nvPr/>
        </p:nvCxnSpPr>
        <p:spPr>
          <a:xfrm flipH="1">
            <a:off x="1745698" y="2520794"/>
            <a:ext cx="1787225" cy="703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AED0214F-9434-465F-A4C9-E8673E24F392}"/>
              </a:ext>
            </a:extLst>
          </p:cNvPr>
          <p:cNvCxnSpPr>
            <a:cxnSpLocks/>
            <a:stCxn id="30" idx="2"/>
            <a:endCxn id="24" idx="0"/>
          </p:cNvCxnSpPr>
          <p:nvPr/>
        </p:nvCxnSpPr>
        <p:spPr>
          <a:xfrm>
            <a:off x="3532923" y="2520794"/>
            <a:ext cx="1972363" cy="7755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ZoneTexte 63">
            <a:extLst>
              <a:ext uri="{FF2B5EF4-FFF2-40B4-BE49-F238E27FC236}">
                <a16:creationId xmlns:a16="http://schemas.microsoft.com/office/drawing/2014/main" id="{3E34C345-D037-497B-8B22-39DF4E226775}"/>
              </a:ext>
            </a:extLst>
          </p:cNvPr>
          <p:cNvSpPr txBox="1"/>
          <p:nvPr/>
        </p:nvSpPr>
        <p:spPr>
          <a:xfrm>
            <a:off x="7096766" y="2635451"/>
            <a:ext cx="1148811" cy="369332"/>
          </a:xfrm>
          <a:prstGeom prst="rect">
            <a:avLst/>
          </a:prstGeom>
          <a:noFill/>
        </p:spPr>
        <p:txBody>
          <a:bodyPr wrap="square" rtlCol="0">
            <a:spAutoFit/>
          </a:bodyPr>
          <a:lstStyle/>
          <a:p>
            <a:r>
              <a:rPr lang="fr-FR" b="1" u="sng" dirty="0"/>
              <a:t>Enjeux :</a:t>
            </a:r>
          </a:p>
        </p:txBody>
      </p:sp>
      <p:sp>
        <p:nvSpPr>
          <p:cNvPr id="65" name="ZoneTexte 64">
            <a:extLst>
              <a:ext uri="{FF2B5EF4-FFF2-40B4-BE49-F238E27FC236}">
                <a16:creationId xmlns:a16="http://schemas.microsoft.com/office/drawing/2014/main" id="{CD9E232E-3A25-4103-A167-94C89F59084F}"/>
              </a:ext>
            </a:extLst>
          </p:cNvPr>
          <p:cNvSpPr txBox="1"/>
          <p:nvPr/>
        </p:nvSpPr>
        <p:spPr>
          <a:xfrm>
            <a:off x="7096763" y="1502792"/>
            <a:ext cx="2978569" cy="369332"/>
          </a:xfrm>
          <a:prstGeom prst="rect">
            <a:avLst/>
          </a:prstGeom>
          <a:noFill/>
        </p:spPr>
        <p:txBody>
          <a:bodyPr wrap="square" rtlCol="0">
            <a:spAutoFit/>
          </a:bodyPr>
          <a:lstStyle/>
          <a:p>
            <a:r>
              <a:rPr lang="fr-FR" dirty="0">
                <a:effectLst/>
                <a:latin typeface="Arial" panose="020B0604020202020204" pitchFamily="34" charset="0"/>
              </a:rPr>
              <a:t>- Rester compétitif</a:t>
            </a:r>
            <a:endParaRPr lang="fr-FR" dirty="0"/>
          </a:p>
        </p:txBody>
      </p:sp>
      <p:pic>
        <p:nvPicPr>
          <p:cNvPr id="30" name="Picture 2">
            <a:extLst>
              <a:ext uri="{FF2B5EF4-FFF2-40B4-BE49-F238E27FC236}">
                <a16:creationId xmlns:a16="http://schemas.microsoft.com/office/drawing/2014/main" id="{27DBC3DD-32CB-48FE-A1F6-1DA917159C1C}"/>
              </a:ext>
            </a:extLst>
          </p:cNvPr>
          <p:cNvPicPr>
            <a:picLocks noChangeAspect="1"/>
          </p:cNvPicPr>
          <p:nvPr/>
        </p:nvPicPr>
        <p:blipFill>
          <a:blip r:embed="rId3"/>
          <a:stretch>
            <a:fillRect/>
          </a:stretch>
        </p:blipFill>
        <p:spPr>
          <a:xfrm>
            <a:off x="2998683" y="1448810"/>
            <a:ext cx="1068480" cy="1071984"/>
          </a:xfrm>
          <a:prstGeom prst="rect">
            <a:avLst/>
          </a:prstGeom>
        </p:spPr>
      </p:pic>
      <p:pic>
        <p:nvPicPr>
          <p:cNvPr id="3" name="Image 2">
            <a:extLst>
              <a:ext uri="{FF2B5EF4-FFF2-40B4-BE49-F238E27FC236}">
                <a16:creationId xmlns:a16="http://schemas.microsoft.com/office/drawing/2014/main" id="{10526920-CC5B-4847-9293-20F443137C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8639" y="3296304"/>
            <a:ext cx="828567" cy="828567"/>
          </a:xfrm>
          <a:prstGeom prst="rect">
            <a:avLst/>
          </a:prstGeom>
        </p:spPr>
      </p:pic>
      <p:cxnSp>
        <p:nvCxnSpPr>
          <p:cNvPr id="32" name="Connecteur droit avec flèche 31">
            <a:extLst>
              <a:ext uri="{FF2B5EF4-FFF2-40B4-BE49-F238E27FC236}">
                <a16:creationId xmlns:a16="http://schemas.microsoft.com/office/drawing/2014/main" id="{06402403-64B7-4375-8FB1-8D32E95DD9B7}"/>
              </a:ext>
            </a:extLst>
          </p:cNvPr>
          <p:cNvCxnSpPr>
            <a:cxnSpLocks/>
            <a:stCxn id="30" idx="2"/>
            <a:endCxn id="3" idx="0"/>
          </p:cNvCxnSpPr>
          <p:nvPr/>
        </p:nvCxnSpPr>
        <p:spPr>
          <a:xfrm>
            <a:off x="3532923" y="2520794"/>
            <a:ext cx="0" cy="775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ZoneTexte 39">
            <a:extLst>
              <a:ext uri="{FF2B5EF4-FFF2-40B4-BE49-F238E27FC236}">
                <a16:creationId xmlns:a16="http://schemas.microsoft.com/office/drawing/2014/main" id="{79E7540F-973E-4E94-BFB6-1095B95D4579}"/>
              </a:ext>
            </a:extLst>
          </p:cNvPr>
          <p:cNvSpPr txBox="1"/>
          <p:nvPr/>
        </p:nvSpPr>
        <p:spPr>
          <a:xfrm>
            <a:off x="7096762" y="1907994"/>
            <a:ext cx="4541201" cy="369332"/>
          </a:xfrm>
          <a:prstGeom prst="rect">
            <a:avLst/>
          </a:prstGeom>
          <a:noFill/>
        </p:spPr>
        <p:txBody>
          <a:bodyPr wrap="square" rtlCol="0">
            <a:spAutoFit/>
          </a:bodyPr>
          <a:lstStyle/>
          <a:p>
            <a:r>
              <a:rPr lang="fr-FR" dirty="0">
                <a:effectLst/>
                <a:latin typeface="Arial" panose="020B0604020202020204" pitchFamily="34" charset="0"/>
              </a:rPr>
              <a:t>- Repartir sur une architecture saine</a:t>
            </a:r>
            <a:endParaRPr lang="fr-FR" dirty="0"/>
          </a:p>
        </p:txBody>
      </p:sp>
      <p:pic>
        <p:nvPicPr>
          <p:cNvPr id="17" name="Image 16">
            <a:extLst>
              <a:ext uri="{FF2B5EF4-FFF2-40B4-BE49-F238E27FC236}">
                <a16:creationId xmlns:a16="http://schemas.microsoft.com/office/drawing/2014/main" id="{37D81FCF-D1C8-45B9-B956-E3970CD1B70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59110" y="3223999"/>
            <a:ext cx="973176" cy="973176"/>
          </a:xfrm>
          <a:prstGeom prst="rect">
            <a:avLst/>
          </a:prstGeom>
        </p:spPr>
      </p:pic>
      <p:pic>
        <p:nvPicPr>
          <p:cNvPr id="24" name="Image 23">
            <a:extLst>
              <a:ext uri="{FF2B5EF4-FFF2-40B4-BE49-F238E27FC236}">
                <a16:creationId xmlns:a16="http://schemas.microsoft.com/office/drawing/2014/main" id="{CEADEF34-D749-421A-90AE-03549D6C59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91002" y="3296303"/>
            <a:ext cx="828567" cy="828567"/>
          </a:xfrm>
          <a:prstGeom prst="rect">
            <a:avLst/>
          </a:prstGeom>
        </p:spPr>
      </p:pic>
    </p:spTree>
    <p:extLst>
      <p:ext uri="{BB962C8B-B14F-4D97-AF65-F5344CB8AC3E}">
        <p14:creationId xmlns:p14="http://schemas.microsoft.com/office/powerpoint/2010/main" val="266234641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37">
            <a:extLst>
              <a:ext uri="{FF2B5EF4-FFF2-40B4-BE49-F238E27FC236}">
                <a16:creationId xmlns:a16="http://schemas.microsoft.com/office/drawing/2014/main" id="{C9660DDB-F7C9-4EB5-94B6-0137E8570FA2}"/>
              </a:ext>
            </a:extLst>
          </p:cNvPr>
          <p:cNvSpPr/>
          <p:nvPr/>
        </p:nvSpPr>
        <p:spPr>
          <a:xfrm rot="18900000">
            <a:off x="536614" y="5581005"/>
            <a:ext cx="2553990" cy="2553991"/>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36">
            <a:extLst>
              <a:ext uri="{FF2B5EF4-FFF2-40B4-BE49-F238E27FC236}">
                <a16:creationId xmlns:a16="http://schemas.microsoft.com/office/drawing/2014/main" id="{794AC913-3F08-4F79-9460-8BC8C1F336B3}"/>
              </a:ext>
            </a:extLst>
          </p:cNvPr>
          <p:cNvSpPr/>
          <p:nvPr/>
        </p:nvSpPr>
        <p:spPr>
          <a:xfrm rot="18900000">
            <a:off x="-1135325" y="3708715"/>
            <a:ext cx="2559410" cy="2967775"/>
          </a:xfrm>
          <a:custGeom>
            <a:avLst/>
            <a:gdLst>
              <a:gd name="connsiteX0" fmla="*/ 2559410 w 2559410"/>
              <a:gd name="connsiteY0" fmla="*/ 0 h 2967775"/>
              <a:gd name="connsiteX1" fmla="*/ 2559410 w 2559410"/>
              <a:gd name="connsiteY1" fmla="*/ 2967775 h 2967775"/>
              <a:gd name="connsiteX2" fmla="*/ 408364 w 2559410"/>
              <a:gd name="connsiteY2" fmla="*/ 2967774 h 2967775"/>
              <a:gd name="connsiteX3" fmla="*/ 0 w 2559410"/>
              <a:gd name="connsiteY3" fmla="*/ 2559411 h 2967775"/>
            </a:gdLst>
            <a:ahLst/>
            <a:cxnLst>
              <a:cxn ang="0">
                <a:pos x="connsiteX0" y="connsiteY0"/>
              </a:cxn>
              <a:cxn ang="0">
                <a:pos x="connsiteX1" y="connsiteY1"/>
              </a:cxn>
              <a:cxn ang="0">
                <a:pos x="connsiteX2" y="connsiteY2"/>
              </a:cxn>
              <a:cxn ang="0">
                <a:pos x="connsiteX3" y="connsiteY3"/>
              </a:cxn>
            </a:cxnLst>
            <a:rect l="l" t="t" r="r" b="b"/>
            <a:pathLst>
              <a:path w="2559410" h="2967775">
                <a:moveTo>
                  <a:pt x="2559410" y="0"/>
                </a:moveTo>
                <a:lnTo>
                  <a:pt x="2559410" y="2967775"/>
                </a:lnTo>
                <a:lnTo>
                  <a:pt x="408364" y="2967774"/>
                </a:lnTo>
                <a:lnTo>
                  <a:pt x="0" y="2559411"/>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4</a:t>
            </a:fld>
            <a:endParaRPr lang="en-US"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523220"/>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1. </a:t>
            </a:r>
            <a:r>
              <a:rPr lang="en-US" sz="1400" dirty="0" err="1">
                <a:solidFill>
                  <a:schemeClr val="bg1"/>
                </a:solidFill>
                <a:latin typeface="Roboto Light" charset="0"/>
                <a:ea typeface="Roboto Light" charset="0"/>
                <a:cs typeface="Roboto Light" charset="0"/>
              </a:rPr>
              <a:t>Contexte</a:t>
            </a:r>
            <a:r>
              <a:rPr lang="en-US" sz="1400" dirty="0">
                <a:solidFill>
                  <a:schemeClr val="bg1"/>
                </a:solidFill>
                <a:latin typeface="Roboto Light" charset="0"/>
                <a:ea typeface="Roboto Light" charset="0"/>
                <a:cs typeface="Roboto Light" charset="0"/>
              </a:rPr>
              <a:t> et </a:t>
            </a:r>
            <a:r>
              <a:rPr lang="en-US" sz="1400" dirty="0" err="1">
                <a:solidFill>
                  <a:schemeClr val="bg1"/>
                </a:solidFill>
                <a:latin typeface="Roboto Light" charset="0"/>
                <a:ea typeface="Roboto Light" charset="0"/>
                <a:cs typeface="Roboto Light" charset="0"/>
              </a:rPr>
              <a:t>objectifs</a:t>
            </a:r>
            <a:r>
              <a:rPr lang="en-US" sz="1400" dirty="0">
                <a:solidFill>
                  <a:schemeClr val="bg1"/>
                </a:solidFill>
                <a:latin typeface="Roboto Light" charset="0"/>
                <a:ea typeface="Roboto Light" charset="0"/>
                <a:cs typeface="Roboto Light" charset="0"/>
              </a:rPr>
              <a:t> du </a:t>
            </a:r>
            <a:r>
              <a:rPr lang="en-US" sz="1400" dirty="0" err="1">
                <a:solidFill>
                  <a:schemeClr val="bg1"/>
                </a:solidFill>
                <a:latin typeface="Roboto Light" charset="0"/>
                <a:ea typeface="Roboto Light" charset="0"/>
                <a:cs typeface="Roboto Light" charset="0"/>
              </a:rPr>
              <a:t>projet</a:t>
            </a:r>
            <a:endParaRPr lang="en-US" sz="1400" dirty="0">
              <a:solidFill>
                <a:schemeClr val="bg1"/>
              </a:solidFill>
              <a:latin typeface="Roboto Light" charset="0"/>
              <a:ea typeface="Roboto Light" charset="0"/>
              <a:cs typeface="Roboto Light" charset="0"/>
            </a:endParaRPr>
          </a:p>
        </p:txBody>
      </p:sp>
      <p:sp>
        <p:nvSpPr>
          <p:cNvPr id="7" name="Rectangle 6">
            <a:extLst>
              <a:ext uri="{FF2B5EF4-FFF2-40B4-BE49-F238E27FC236}">
                <a16:creationId xmlns:a16="http://schemas.microsoft.com/office/drawing/2014/main" id="{C667A449-1672-4253-8EA8-554C44CBAA12}"/>
              </a:ext>
            </a:extLst>
          </p:cNvPr>
          <p:cNvSpPr/>
          <p:nvPr/>
        </p:nvSpPr>
        <p:spPr>
          <a:xfrm>
            <a:off x="7638223" y="3858174"/>
            <a:ext cx="1245799" cy="1292642"/>
          </a:xfrm>
          <a:prstGeom prst="rect">
            <a:avLst/>
          </a:prstGeom>
          <a:solidFill>
            <a:schemeClr val="bg1">
              <a:lumMod val="95000"/>
            </a:schemeClr>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EAB00A1F-E7BD-4051-8221-2CF5A0E89E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80068" y="4007336"/>
            <a:ext cx="964569" cy="964569"/>
          </a:xfrm>
          <a:prstGeom prst="rect">
            <a:avLst/>
          </a:prstGeom>
        </p:spPr>
      </p:pic>
      <p:sp>
        <p:nvSpPr>
          <p:cNvPr id="13" name="Rectangle 12">
            <a:extLst>
              <a:ext uri="{FF2B5EF4-FFF2-40B4-BE49-F238E27FC236}">
                <a16:creationId xmlns:a16="http://schemas.microsoft.com/office/drawing/2014/main" id="{F5F2D116-74CE-4232-B408-F6423E82FDAA}"/>
              </a:ext>
            </a:extLst>
          </p:cNvPr>
          <p:cNvSpPr/>
          <p:nvPr/>
        </p:nvSpPr>
        <p:spPr>
          <a:xfrm>
            <a:off x="3955704" y="1896079"/>
            <a:ext cx="1855398" cy="1800534"/>
          </a:xfrm>
          <a:prstGeom prst="rect">
            <a:avLst/>
          </a:prstGeom>
          <a:solidFill>
            <a:schemeClr val="bg1">
              <a:lumMod val="95000"/>
            </a:schemeClr>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0DE1AA52-6061-42F9-80FB-84006FBC1C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11624" y="2124567"/>
            <a:ext cx="1343558" cy="1343558"/>
          </a:xfrm>
          <a:prstGeom prst="rect">
            <a:avLst/>
          </a:prstGeom>
        </p:spPr>
      </p:pic>
      <p:sp>
        <p:nvSpPr>
          <p:cNvPr id="23" name="ZoneTexte 22">
            <a:extLst>
              <a:ext uri="{FF2B5EF4-FFF2-40B4-BE49-F238E27FC236}">
                <a16:creationId xmlns:a16="http://schemas.microsoft.com/office/drawing/2014/main" id="{38AABE02-AE8A-4248-87ED-9383770AE400}"/>
              </a:ext>
            </a:extLst>
          </p:cNvPr>
          <p:cNvSpPr txBox="1"/>
          <p:nvPr/>
        </p:nvSpPr>
        <p:spPr>
          <a:xfrm>
            <a:off x="6515033" y="5121067"/>
            <a:ext cx="3492178" cy="646331"/>
          </a:xfrm>
          <a:prstGeom prst="rect">
            <a:avLst/>
          </a:prstGeom>
          <a:noFill/>
        </p:spPr>
        <p:txBody>
          <a:bodyPr wrap="square" rtlCol="0">
            <a:spAutoFit/>
          </a:bodyPr>
          <a:lstStyle/>
          <a:p>
            <a:pPr algn="ctr"/>
            <a:r>
              <a:rPr lang="fr-FR" dirty="0">
                <a:effectLst/>
                <a:latin typeface="Arial" panose="020B0604020202020204" pitchFamily="34" charset="0"/>
              </a:rPr>
              <a:t>Plateforme courante</a:t>
            </a:r>
            <a:br>
              <a:rPr lang="fr-FR" dirty="0">
                <a:effectLst/>
                <a:latin typeface="Arial" panose="020B0604020202020204" pitchFamily="34" charset="0"/>
              </a:rPr>
            </a:br>
            <a:r>
              <a:rPr lang="fr-FR" dirty="0">
                <a:effectLst/>
                <a:latin typeface="Arial" panose="020B0604020202020204" pitchFamily="34" charset="0"/>
              </a:rPr>
              <a:t>(passée en mode maintenance)</a:t>
            </a:r>
            <a:endParaRPr lang="fr-FR" dirty="0"/>
          </a:p>
        </p:txBody>
      </p:sp>
      <p:sp>
        <p:nvSpPr>
          <p:cNvPr id="30" name="ZoneTexte 29">
            <a:extLst>
              <a:ext uri="{FF2B5EF4-FFF2-40B4-BE49-F238E27FC236}">
                <a16:creationId xmlns:a16="http://schemas.microsoft.com/office/drawing/2014/main" id="{AEB33227-1C01-4444-9DFE-9F6695E86542}"/>
              </a:ext>
            </a:extLst>
          </p:cNvPr>
          <p:cNvSpPr txBox="1"/>
          <p:nvPr/>
        </p:nvSpPr>
        <p:spPr>
          <a:xfrm>
            <a:off x="3122290" y="3696613"/>
            <a:ext cx="3492178" cy="646331"/>
          </a:xfrm>
          <a:prstGeom prst="rect">
            <a:avLst/>
          </a:prstGeom>
          <a:noFill/>
        </p:spPr>
        <p:txBody>
          <a:bodyPr wrap="square" rtlCol="0">
            <a:spAutoFit/>
          </a:bodyPr>
          <a:lstStyle/>
          <a:p>
            <a:pPr algn="ctr"/>
            <a:r>
              <a:rPr lang="fr-FR" dirty="0">
                <a:effectLst/>
                <a:latin typeface="Arial" panose="020B0604020202020204" pitchFamily="34" charset="0"/>
              </a:rPr>
              <a:t>Montée en charge progressive de la nouvelle plateforme</a:t>
            </a:r>
            <a:endParaRPr lang="fr-FR" dirty="0"/>
          </a:p>
        </p:txBody>
      </p:sp>
    </p:spTree>
    <p:extLst>
      <p:ext uri="{BB962C8B-B14F-4D97-AF65-F5344CB8AC3E}">
        <p14:creationId xmlns:p14="http://schemas.microsoft.com/office/powerpoint/2010/main" val="46715340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5</a:t>
            </a:fld>
            <a:endParaRPr lang="en-US"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307777"/>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2. </a:t>
            </a:r>
            <a:r>
              <a:rPr lang="en-US" sz="1400" dirty="0" err="1">
                <a:solidFill>
                  <a:schemeClr val="bg1"/>
                </a:solidFill>
                <a:latin typeface="Roboto Light" charset="0"/>
                <a:ea typeface="Roboto Light" charset="0"/>
                <a:cs typeface="Roboto Light" charset="0"/>
              </a:rPr>
              <a:t>Mesure</a:t>
            </a:r>
            <a:r>
              <a:rPr lang="en-US" sz="1400" dirty="0">
                <a:solidFill>
                  <a:schemeClr val="bg1"/>
                </a:solidFill>
                <a:latin typeface="Roboto Light" charset="0"/>
                <a:ea typeface="Roboto Light" charset="0"/>
                <a:cs typeface="Roboto Light" charset="0"/>
              </a:rPr>
              <a:t> de succès</a:t>
            </a:r>
          </a:p>
        </p:txBody>
      </p:sp>
      <p:pic>
        <p:nvPicPr>
          <p:cNvPr id="7" name="Image 6">
            <a:extLst>
              <a:ext uri="{FF2B5EF4-FFF2-40B4-BE49-F238E27FC236}">
                <a16:creationId xmlns:a16="http://schemas.microsoft.com/office/drawing/2014/main" id="{1016E9BB-9B35-4699-95E8-1F021AFB33BE}"/>
              </a:ext>
            </a:extLst>
          </p:cNvPr>
          <p:cNvPicPr/>
          <p:nvPr/>
        </p:nvPicPr>
        <p:blipFill rotWithShape="1">
          <a:blip r:embed="rId3"/>
          <a:srcRect t="18125"/>
          <a:stretch/>
        </p:blipFill>
        <p:spPr>
          <a:xfrm>
            <a:off x="6351796" y="2948101"/>
            <a:ext cx="5563185" cy="2011469"/>
          </a:xfrm>
          <a:prstGeom prst="rect">
            <a:avLst/>
          </a:prstGeom>
          <a:noFill/>
          <a:ln>
            <a:noFill/>
            <a:prstDash/>
          </a:ln>
        </p:spPr>
      </p:pic>
      <p:pic>
        <p:nvPicPr>
          <p:cNvPr id="3" name="Image 2">
            <a:extLst>
              <a:ext uri="{FF2B5EF4-FFF2-40B4-BE49-F238E27FC236}">
                <a16:creationId xmlns:a16="http://schemas.microsoft.com/office/drawing/2014/main" id="{18990A03-56AF-4135-9337-B3FF2032D271}"/>
              </a:ext>
            </a:extLst>
          </p:cNvPr>
          <p:cNvPicPr>
            <a:picLocks noChangeAspect="1"/>
          </p:cNvPicPr>
          <p:nvPr/>
        </p:nvPicPr>
        <p:blipFill>
          <a:blip r:embed="rId4"/>
          <a:stretch>
            <a:fillRect/>
          </a:stretch>
        </p:blipFill>
        <p:spPr>
          <a:xfrm>
            <a:off x="255795" y="3057821"/>
            <a:ext cx="6096001" cy="1586931"/>
          </a:xfrm>
          <a:prstGeom prst="rect">
            <a:avLst/>
          </a:prstGeom>
        </p:spPr>
      </p:pic>
      <p:sp>
        <p:nvSpPr>
          <p:cNvPr id="8" name="ZoneTexte 7">
            <a:extLst>
              <a:ext uri="{FF2B5EF4-FFF2-40B4-BE49-F238E27FC236}">
                <a16:creationId xmlns:a16="http://schemas.microsoft.com/office/drawing/2014/main" id="{B9A5C48B-589B-4C39-8AB4-4B7F3DCD4E33}"/>
              </a:ext>
            </a:extLst>
          </p:cNvPr>
          <p:cNvSpPr txBox="1"/>
          <p:nvPr/>
        </p:nvSpPr>
        <p:spPr>
          <a:xfrm>
            <a:off x="6979185" y="2578767"/>
            <a:ext cx="3492178" cy="369332"/>
          </a:xfrm>
          <a:prstGeom prst="rect">
            <a:avLst/>
          </a:prstGeom>
          <a:noFill/>
        </p:spPr>
        <p:txBody>
          <a:bodyPr wrap="square" rtlCol="0">
            <a:spAutoFit/>
          </a:bodyPr>
          <a:lstStyle/>
          <a:p>
            <a:pPr algn="ctr"/>
            <a:r>
              <a:rPr lang="fr-FR" dirty="0">
                <a:effectLst/>
                <a:latin typeface="Arial" panose="020B0604020202020204" pitchFamily="34" charset="0"/>
              </a:rPr>
              <a:t>Business</a:t>
            </a:r>
            <a:endParaRPr lang="fr-FR" dirty="0"/>
          </a:p>
        </p:txBody>
      </p:sp>
      <p:sp>
        <p:nvSpPr>
          <p:cNvPr id="9" name="ZoneTexte 8">
            <a:extLst>
              <a:ext uri="{FF2B5EF4-FFF2-40B4-BE49-F238E27FC236}">
                <a16:creationId xmlns:a16="http://schemas.microsoft.com/office/drawing/2014/main" id="{041B3D5C-E96A-44B4-9505-B2DAA6CD3EDD}"/>
              </a:ext>
            </a:extLst>
          </p:cNvPr>
          <p:cNvSpPr txBox="1"/>
          <p:nvPr/>
        </p:nvSpPr>
        <p:spPr>
          <a:xfrm>
            <a:off x="1720639" y="2578767"/>
            <a:ext cx="3492178" cy="369332"/>
          </a:xfrm>
          <a:prstGeom prst="rect">
            <a:avLst/>
          </a:prstGeom>
          <a:noFill/>
        </p:spPr>
        <p:txBody>
          <a:bodyPr wrap="square" rtlCol="0">
            <a:spAutoFit/>
          </a:bodyPr>
          <a:lstStyle/>
          <a:p>
            <a:pPr algn="ctr"/>
            <a:r>
              <a:rPr lang="fr-FR" dirty="0">
                <a:effectLst/>
                <a:latin typeface="Arial" panose="020B0604020202020204" pitchFamily="34" charset="0"/>
              </a:rPr>
              <a:t>Applicatif</a:t>
            </a:r>
            <a:endParaRPr lang="fr-FR" dirty="0"/>
          </a:p>
        </p:txBody>
      </p:sp>
    </p:spTree>
    <p:extLst>
      <p:ext uri="{BB962C8B-B14F-4D97-AF65-F5344CB8AC3E}">
        <p14:creationId xmlns:p14="http://schemas.microsoft.com/office/powerpoint/2010/main" val="231202643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6</a:t>
            </a:fld>
            <a:endParaRPr lang="en-US" dirty="0"/>
          </a:p>
        </p:txBody>
      </p:sp>
      <p:sp>
        <p:nvSpPr>
          <p:cNvPr id="29" name="Freeform 37">
            <a:extLst>
              <a:ext uri="{FF2B5EF4-FFF2-40B4-BE49-F238E27FC236}">
                <a16:creationId xmlns:a16="http://schemas.microsoft.com/office/drawing/2014/main" id="{F23C98DB-EC0E-4AA2-9A31-9C94C322747F}"/>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ZoneTexte 29">
            <a:extLst>
              <a:ext uri="{FF2B5EF4-FFF2-40B4-BE49-F238E27FC236}">
                <a16:creationId xmlns:a16="http://schemas.microsoft.com/office/drawing/2014/main" id="{2DF92377-9ACD-4BEA-BDE5-05E828C7DF13}"/>
              </a:ext>
            </a:extLst>
          </p:cNvPr>
          <p:cNvSpPr txBox="1"/>
          <p:nvPr/>
        </p:nvSpPr>
        <p:spPr>
          <a:xfrm>
            <a:off x="-53340" y="-6157"/>
            <a:ext cx="2285626" cy="523220"/>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3. </a:t>
            </a:r>
            <a:r>
              <a:rPr lang="en-US" sz="1400" dirty="0" err="1">
                <a:solidFill>
                  <a:schemeClr val="bg1"/>
                </a:solidFill>
                <a:latin typeface="Roboto Light" charset="0"/>
                <a:ea typeface="Roboto Light" charset="0"/>
                <a:cs typeface="Roboto Light" charset="0"/>
              </a:rPr>
              <a:t>Présentation</a:t>
            </a:r>
            <a:r>
              <a:rPr lang="en-US" sz="1400" dirty="0">
                <a:solidFill>
                  <a:schemeClr val="bg1"/>
                </a:solidFill>
                <a:latin typeface="Roboto Light" charset="0"/>
                <a:ea typeface="Roboto Light" charset="0"/>
                <a:cs typeface="Roboto Light" charset="0"/>
              </a:rPr>
              <a:t> des</a:t>
            </a:r>
            <a:br>
              <a:rPr lang="en-US" sz="1400" dirty="0">
                <a:solidFill>
                  <a:schemeClr val="bg1"/>
                </a:solidFill>
                <a:latin typeface="Roboto Light" charset="0"/>
                <a:ea typeface="Roboto Light" charset="0"/>
                <a:cs typeface="Roboto Light" charset="0"/>
              </a:rPr>
            </a:br>
            <a:r>
              <a:rPr lang="en-US" sz="1400" dirty="0">
                <a:solidFill>
                  <a:schemeClr val="bg1"/>
                </a:solidFill>
                <a:latin typeface="Roboto Light" charset="0"/>
                <a:ea typeface="Roboto Light" charset="0"/>
                <a:cs typeface="Roboto Light" charset="0"/>
              </a:rPr>
              <a:t>documents</a:t>
            </a:r>
          </a:p>
        </p:txBody>
      </p:sp>
      <p:sp>
        <p:nvSpPr>
          <p:cNvPr id="19" name="ZoneTexte 18">
            <a:extLst>
              <a:ext uri="{FF2B5EF4-FFF2-40B4-BE49-F238E27FC236}">
                <a16:creationId xmlns:a16="http://schemas.microsoft.com/office/drawing/2014/main" id="{71132764-85C7-4CC5-882C-CEB24A3EB29D}"/>
              </a:ext>
            </a:extLst>
          </p:cNvPr>
          <p:cNvSpPr txBox="1"/>
          <p:nvPr/>
        </p:nvSpPr>
        <p:spPr>
          <a:xfrm>
            <a:off x="3033833" y="1319260"/>
            <a:ext cx="4639966" cy="369332"/>
          </a:xfrm>
          <a:prstGeom prst="rect">
            <a:avLst/>
          </a:prstGeom>
          <a:noFill/>
        </p:spPr>
        <p:txBody>
          <a:bodyPr wrap="square" rtlCol="0">
            <a:spAutoFit/>
          </a:bodyPr>
          <a:lstStyle/>
          <a:p>
            <a:r>
              <a:rPr lang="fr-FR" dirty="0">
                <a:effectLst/>
                <a:latin typeface="Arial" panose="020B0604020202020204" pitchFamily="34" charset="0"/>
              </a:rPr>
              <a:t>- Déclaration de Travail d’Architecture</a:t>
            </a:r>
            <a:endParaRPr lang="fr-FR" dirty="0"/>
          </a:p>
        </p:txBody>
      </p:sp>
      <p:pic>
        <p:nvPicPr>
          <p:cNvPr id="3" name="Image 2">
            <a:extLst>
              <a:ext uri="{FF2B5EF4-FFF2-40B4-BE49-F238E27FC236}">
                <a16:creationId xmlns:a16="http://schemas.microsoft.com/office/drawing/2014/main" id="{20F89B49-AA8A-4A3D-93B4-C71372208B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2287" y="1277958"/>
            <a:ext cx="801547" cy="801547"/>
          </a:xfrm>
          <a:prstGeom prst="rect">
            <a:avLst/>
          </a:prstGeom>
        </p:spPr>
      </p:pic>
      <p:pic>
        <p:nvPicPr>
          <p:cNvPr id="23" name="Image 22">
            <a:extLst>
              <a:ext uri="{FF2B5EF4-FFF2-40B4-BE49-F238E27FC236}">
                <a16:creationId xmlns:a16="http://schemas.microsoft.com/office/drawing/2014/main" id="{C52DC8CA-AC8B-4143-ADDE-5B12B78D3A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2286" y="2395495"/>
            <a:ext cx="801547" cy="801547"/>
          </a:xfrm>
          <a:prstGeom prst="rect">
            <a:avLst/>
          </a:prstGeom>
        </p:spPr>
      </p:pic>
      <p:sp>
        <p:nvSpPr>
          <p:cNvPr id="24" name="ZoneTexte 23">
            <a:extLst>
              <a:ext uri="{FF2B5EF4-FFF2-40B4-BE49-F238E27FC236}">
                <a16:creationId xmlns:a16="http://schemas.microsoft.com/office/drawing/2014/main" id="{9924AEE0-1D70-4607-9CE6-E530337DEA4B}"/>
              </a:ext>
            </a:extLst>
          </p:cNvPr>
          <p:cNvSpPr txBox="1"/>
          <p:nvPr/>
        </p:nvSpPr>
        <p:spPr>
          <a:xfrm>
            <a:off x="3033834" y="2454452"/>
            <a:ext cx="4639966" cy="646331"/>
          </a:xfrm>
          <a:prstGeom prst="rect">
            <a:avLst/>
          </a:prstGeom>
          <a:noFill/>
        </p:spPr>
        <p:txBody>
          <a:bodyPr wrap="square" rtlCol="0">
            <a:spAutoFit/>
          </a:bodyPr>
          <a:lstStyle/>
          <a:p>
            <a:r>
              <a:rPr lang="fr-FR" dirty="0">
                <a:effectLst/>
                <a:latin typeface="Arial" panose="020B0604020202020204" pitchFamily="34" charset="0"/>
              </a:rPr>
              <a:t>- Spécification des Conditions Requises pour l’Architecture</a:t>
            </a:r>
            <a:endParaRPr lang="fr-FR" dirty="0"/>
          </a:p>
        </p:txBody>
      </p:sp>
      <p:pic>
        <p:nvPicPr>
          <p:cNvPr id="6" name="Image 5">
            <a:extLst>
              <a:ext uri="{FF2B5EF4-FFF2-40B4-BE49-F238E27FC236}">
                <a16:creationId xmlns:a16="http://schemas.microsoft.com/office/drawing/2014/main" id="{E34D9CC9-0788-4AEF-9EE3-FF49F01E85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9083" y="104208"/>
            <a:ext cx="2878036" cy="1173750"/>
          </a:xfrm>
          <a:prstGeom prst="rect">
            <a:avLst/>
          </a:prstGeom>
        </p:spPr>
      </p:pic>
      <p:sp>
        <p:nvSpPr>
          <p:cNvPr id="27" name="ZoneTexte 26">
            <a:extLst>
              <a:ext uri="{FF2B5EF4-FFF2-40B4-BE49-F238E27FC236}">
                <a16:creationId xmlns:a16="http://schemas.microsoft.com/office/drawing/2014/main" id="{523B12AC-206C-4C5D-B8AA-A096510ABB78}"/>
              </a:ext>
            </a:extLst>
          </p:cNvPr>
          <p:cNvSpPr txBox="1"/>
          <p:nvPr/>
        </p:nvSpPr>
        <p:spPr>
          <a:xfrm>
            <a:off x="3033834" y="3611225"/>
            <a:ext cx="4639966" cy="646331"/>
          </a:xfrm>
          <a:prstGeom prst="rect">
            <a:avLst/>
          </a:prstGeom>
          <a:noFill/>
        </p:spPr>
        <p:txBody>
          <a:bodyPr wrap="square" rtlCol="0">
            <a:spAutoFit/>
          </a:bodyPr>
          <a:lstStyle/>
          <a:p>
            <a:r>
              <a:rPr lang="fr-FR" dirty="0">
                <a:effectLst/>
                <a:latin typeface="Arial" panose="020B0604020202020204" pitchFamily="34" charset="0"/>
              </a:rPr>
              <a:t>- Contrat d’Architecture avec les Utilisateurs Busines</a:t>
            </a:r>
            <a:endParaRPr lang="fr-FR" dirty="0"/>
          </a:p>
        </p:txBody>
      </p:sp>
      <p:pic>
        <p:nvPicPr>
          <p:cNvPr id="28" name="Image 27">
            <a:extLst>
              <a:ext uri="{FF2B5EF4-FFF2-40B4-BE49-F238E27FC236}">
                <a16:creationId xmlns:a16="http://schemas.microsoft.com/office/drawing/2014/main" id="{F4F10120-C607-4639-AA0E-65C310D352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2286" y="3543477"/>
            <a:ext cx="801547" cy="801547"/>
          </a:xfrm>
          <a:prstGeom prst="rect">
            <a:avLst/>
          </a:prstGeom>
        </p:spPr>
      </p:pic>
      <p:pic>
        <p:nvPicPr>
          <p:cNvPr id="31" name="Image 30">
            <a:extLst>
              <a:ext uri="{FF2B5EF4-FFF2-40B4-BE49-F238E27FC236}">
                <a16:creationId xmlns:a16="http://schemas.microsoft.com/office/drawing/2014/main" id="{33A059DA-72B4-46DD-BC3C-787BD0D813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2286" y="4640444"/>
            <a:ext cx="801547" cy="801547"/>
          </a:xfrm>
          <a:prstGeom prst="rect">
            <a:avLst/>
          </a:prstGeom>
        </p:spPr>
      </p:pic>
      <p:sp>
        <p:nvSpPr>
          <p:cNvPr id="33" name="ZoneTexte 32">
            <a:extLst>
              <a:ext uri="{FF2B5EF4-FFF2-40B4-BE49-F238E27FC236}">
                <a16:creationId xmlns:a16="http://schemas.microsoft.com/office/drawing/2014/main" id="{6187481A-F326-448A-BA8C-7BDBB8E684C8}"/>
              </a:ext>
            </a:extLst>
          </p:cNvPr>
          <p:cNvSpPr txBox="1"/>
          <p:nvPr/>
        </p:nvSpPr>
        <p:spPr>
          <a:xfrm>
            <a:off x="3033834" y="4749645"/>
            <a:ext cx="4639966" cy="646331"/>
          </a:xfrm>
          <a:prstGeom prst="rect">
            <a:avLst/>
          </a:prstGeom>
          <a:noFill/>
        </p:spPr>
        <p:txBody>
          <a:bodyPr wrap="square" rtlCol="0">
            <a:spAutoFit/>
          </a:bodyPr>
          <a:lstStyle/>
          <a:p>
            <a:r>
              <a:rPr lang="fr-FR" dirty="0">
                <a:effectLst/>
                <a:latin typeface="Arial" panose="020B0604020202020204" pitchFamily="34" charset="0"/>
              </a:rPr>
              <a:t>- Contrat d’Architecture avec les Fonctions Développement et Design</a:t>
            </a:r>
            <a:endParaRPr lang="fr-FR" dirty="0"/>
          </a:p>
        </p:txBody>
      </p:sp>
      <p:pic>
        <p:nvPicPr>
          <p:cNvPr id="34" name="Image 33" descr="Afficher l’image source">
            <a:extLst>
              <a:ext uri="{FF2B5EF4-FFF2-40B4-BE49-F238E27FC236}">
                <a16:creationId xmlns:a16="http://schemas.microsoft.com/office/drawing/2014/main" id="{7CBF5697-8EE7-440A-8F35-838227138E4B}"/>
              </a:ext>
            </a:extLst>
          </p:cNvPr>
          <p:cNvPicPr/>
          <p:nvPr/>
        </p:nvPicPr>
        <p:blipFill>
          <a:blip r:embed="rId5"/>
          <a:srcRect/>
          <a:stretch>
            <a:fillRect/>
          </a:stretch>
        </p:blipFill>
        <p:spPr>
          <a:xfrm>
            <a:off x="7673799" y="1585732"/>
            <a:ext cx="3801758" cy="4303660"/>
          </a:xfrm>
          <a:prstGeom prst="rect">
            <a:avLst/>
          </a:prstGeom>
          <a:noFill/>
          <a:ln>
            <a:noFill/>
            <a:prstDash/>
          </a:ln>
        </p:spPr>
      </p:pic>
    </p:spTree>
    <p:extLst>
      <p:ext uri="{BB962C8B-B14F-4D97-AF65-F5344CB8AC3E}">
        <p14:creationId xmlns:p14="http://schemas.microsoft.com/office/powerpoint/2010/main" val="56184569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4176801" y="93771"/>
            <a:ext cx="6126586" cy="1323439"/>
          </a:xfrm>
          <a:prstGeom prst="rect">
            <a:avLst/>
          </a:prstGeom>
        </p:spPr>
        <p:txBody>
          <a:bodyPr wrap="square">
            <a:spAutoFit/>
          </a:bodyPr>
          <a:lstStyle/>
          <a:p>
            <a:pPr algn="ctr"/>
            <a:r>
              <a:rPr lang="fr-FR" sz="4000" dirty="0">
                <a:latin typeface="Roboto Light" charset="0"/>
                <a:ea typeface="Roboto Light" charset="0"/>
                <a:cs typeface="Roboto Light" charset="0"/>
              </a:rPr>
              <a:t>Présentation des éléments de l’architecture</a:t>
            </a:r>
          </a:p>
        </p:txBody>
      </p:sp>
      <p:sp>
        <p:nvSpPr>
          <p:cNvPr id="69" name="Freeform 37">
            <a:extLst>
              <a:ext uri="{FF2B5EF4-FFF2-40B4-BE49-F238E27FC236}">
                <a16:creationId xmlns:a16="http://schemas.microsoft.com/office/drawing/2014/main" id="{C9660DDB-F7C9-4EB5-94B6-0137E8570FA2}"/>
              </a:ext>
            </a:extLst>
          </p:cNvPr>
          <p:cNvSpPr/>
          <p:nvPr/>
        </p:nvSpPr>
        <p:spPr>
          <a:xfrm rot="18900000">
            <a:off x="536614" y="5581005"/>
            <a:ext cx="2553990" cy="2553991"/>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
            <a:extLst>
              <a:ext uri="{FF2B5EF4-FFF2-40B4-BE49-F238E27FC236}">
                <a16:creationId xmlns:a16="http://schemas.microsoft.com/office/drawing/2014/main" id="{746CCCF8-7718-4822-8303-1E34B10BED6C}"/>
              </a:ext>
            </a:extLst>
          </p:cNvPr>
          <p:cNvSpPr/>
          <p:nvPr/>
        </p:nvSpPr>
        <p:spPr>
          <a:xfrm>
            <a:off x="3438473" y="132042"/>
            <a:ext cx="684988" cy="684986"/>
          </a:xfrm>
          <a:prstGeom prst="ellipse">
            <a:avLst/>
          </a:prstGeom>
          <a:solidFill>
            <a:schemeClr val="accent3"/>
          </a:solidFill>
          <a:ln>
            <a:noFill/>
          </a:ln>
          <a:effectLst>
            <a:outerShdw blurRad="38100" dist="12700" dir="5400000" algn="ctr"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Roboto Medium" charset="0"/>
                <a:ea typeface="Roboto Medium" charset="0"/>
                <a:cs typeface="Roboto Medium" charset="0"/>
              </a:rPr>
              <a:t>2</a:t>
            </a:r>
          </a:p>
        </p:txBody>
      </p:sp>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7</a:t>
            </a:fld>
            <a:endParaRPr lang="en-US"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523220"/>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1. </a:t>
            </a:r>
            <a:r>
              <a:rPr lang="en-US" sz="1400" dirty="0" err="1">
                <a:solidFill>
                  <a:schemeClr val="bg1"/>
                </a:solidFill>
                <a:latin typeface="Roboto Light" charset="0"/>
                <a:ea typeface="Roboto Light" charset="0"/>
                <a:cs typeface="Roboto Light" charset="0"/>
              </a:rPr>
              <a:t>Diagramme</a:t>
            </a:r>
            <a:r>
              <a:rPr lang="en-US" sz="1400" dirty="0">
                <a:solidFill>
                  <a:schemeClr val="bg1"/>
                </a:solidFill>
                <a:latin typeface="Roboto Light" charset="0"/>
                <a:ea typeface="Roboto Light" charset="0"/>
                <a:cs typeface="Roboto Light" charset="0"/>
              </a:rPr>
              <a:t> </a:t>
            </a:r>
            <a:r>
              <a:rPr lang="en-US" sz="1400" dirty="0" err="1">
                <a:solidFill>
                  <a:schemeClr val="bg1"/>
                </a:solidFill>
                <a:latin typeface="Roboto Light" charset="0"/>
                <a:ea typeface="Roboto Light" charset="0"/>
                <a:cs typeface="Roboto Light" charset="0"/>
              </a:rPr>
              <a:t>d’architecture</a:t>
            </a:r>
            <a:r>
              <a:rPr lang="en-US" sz="1400" dirty="0">
                <a:solidFill>
                  <a:schemeClr val="bg1"/>
                </a:solidFill>
                <a:latin typeface="Roboto Light" charset="0"/>
                <a:ea typeface="Roboto Light" charset="0"/>
                <a:cs typeface="Roboto Light" charset="0"/>
              </a:rPr>
              <a:t> </a:t>
            </a:r>
          </a:p>
        </p:txBody>
      </p:sp>
      <p:pic>
        <p:nvPicPr>
          <p:cNvPr id="5" name="Image 4">
            <a:extLst>
              <a:ext uri="{FF2B5EF4-FFF2-40B4-BE49-F238E27FC236}">
                <a16:creationId xmlns:a16="http://schemas.microsoft.com/office/drawing/2014/main" id="{C36DF2CF-C132-4D87-BE3B-A690D03D10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6678" y="1448624"/>
            <a:ext cx="11035322" cy="3034558"/>
          </a:xfrm>
          <a:prstGeom prst="rect">
            <a:avLst/>
          </a:prstGeom>
        </p:spPr>
      </p:pic>
      <p:sp>
        <p:nvSpPr>
          <p:cNvPr id="14" name="Freeform 36">
            <a:extLst>
              <a:ext uri="{FF2B5EF4-FFF2-40B4-BE49-F238E27FC236}">
                <a16:creationId xmlns:a16="http://schemas.microsoft.com/office/drawing/2014/main" id="{3100ACF2-C4B8-4793-A625-E92F2D67B61A}"/>
              </a:ext>
            </a:extLst>
          </p:cNvPr>
          <p:cNvSpPr/>
          <p:nvPr/>
        </p:nvSpPr>
        <p:spPr>
          <a:xfrm rot="18900000">
            <a:off x="-1135325" y="3708715"/>
            <a:ext cx="2559410" cy="2967775"/>
          </a:xfrm>
          <a:custGeom>
            <a:avLst/>
            <a:gdLst>
              <a:gd name="connsiteX0" fmla="*/ 2559410 w 2559410"/>
              <a:gd name="connsiteY0" fmla="*/ 0 h 2967775"/>
              <a:gd name="connsiteX1" fmla="*/ 2559410 w 2559410"/>
              <a:gd name="connsiteY1" fmla="*/ 2967775 h 2967775"/>
              <a:gd name="connsiteX2" fmla="*/ 408364 w 2559410"/>
              <a:gd name="connsiteY2" fmla="*/ 2967774 h 2967775"/>
              <a:gd name="connsiteX3" fmla="*/ 0 w 2559410"/>
              <a:gd name="connsiteY3" fmla="*/ 2559411 h 2967775"/>
            </a:gdLst>
            <a:ahLst/>
            <a:cxnLst>
              <a:cxn ang="0">
                <a:pos x="connsiteX0" y="connsiteY0"/>
              </a:cxn>
              <a:cxn ang="0">
                <a:pos x="connsiteX1" y="connsiteY1"/>
              </a:cxn>
              <a:cxn ang="0">
                <a:pos x="connsiteX2" y="connsiteY2"/>
              </a:cxn>
              <a:cxn ang="0">
                <a:pos x="connsiteX3" y="connsiteY3"/>
              </a:cxn>
            </a:cxnLst>
            <a:rect l="l" t="t" r="r" b="b"/>
            <a:pathLst>
              <a:path w="2559410" h="2967775">
                <a:moveTo>
                  <a:pt x="2559410" y="0"/>
                </a:moveTo>
                <a:lnTo>
                  <a:pt x="2559410" y="2967775"/>
                </a:lnTo>
                <a:lnTo>
                  <a:pt x="408364" y="2967774"/>
                </a:lnTo>
                <a:lnTo>
                  <a:pt x="0" y="2559411"/>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a:extLst>
              <a:ext uri="{FF2B5EF4-FFF2-40B4-BE49-F238E27FC236}">
                <a16:creationId xmlns:a16="http://schemas.microsoft.com/office/drawing/2014/main" id="{847C77AF-3A6F-495A-BACF-C1CA529C1EA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46513" y="4322456"/>
            <a:ext cx="7791450" cy="2305050"/>
          </a:xfrm>
          <a:prstGeom prst="rect">
            <a:avLst/>
          </a:prstGeom>
        </p:spPr>
      </p:pic>
      <p:cxnSp>
        <p:nvCxnSpPr>
          <p:cNvPr id="9" name="Connecteur droit 8">
            <a:extLst>
              <a:ext uri="{FF2B5EF4-FFF2-40B4-BE49-F238E27FC236}">
                <a16:creationId xmlns:a16="http://schemas.microsoft.com/office/drawing/2014/main" id="{CDBA6B69-0612-4AF9-BD04-E62FED690DF0}"/>
              </a:ext>
            </a:extLst>
          </p:cNvPr>
          <p:cNvCxnSpPr/>
          <p:nvPr/>
        </p:nvCxnSpPr>
        <p:spPr>
          <a:xfrm flipH="1">
            <a:off x="5227846" y="4213184"/>
            <a:ext cx="696415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4192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37">
            <a:extLst>
              <a:ext uri="{FF2B5EF4-FFF2-40B4-BE49-F238E27FC236}">
                <a16:creationId xmlns:a16="http://schemas.microsoft.com/office/drawing/2014/main" id="{C9660DDB-F7C9-4EB5-94B6-0137E8570FA2}"/>
              </a:ext>
            </a:extLst>
          </p:cNvPr>
          <p:cNvSpPr/>
          <p:nvPr/>
        </p:nvSpPr>
        <p:spPr>
          <a:xfrm rot="18900000">
            <a:off x="536614" y="5581005"/>
            <a:ext cx="2553990" cy="2553991"/>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523220"/>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1. </a:t>
            </a:r>
            <a:r>
              <a:rPr lang="en-US" sz="1400" dirty="0" err="1">
                <a:solidFill>
                  <a:schemeClr val="bg1"/>
                </a:solidFill>
                <a:latin typeface="Roboto Light" charset="0"/>
                <a:ea typeface="Roboto Light" charset="0"/>
                <a:cs typeface="Roboto Light" charset="0"/>
              </a:rPr>
              <a:t>Diagramme</a:t>
            </a:r>
            <a:r>
              <a:rPr lang="en-US" sz="1400" dirty="0">
                <a:solidFill>
                  <a:schemeClr val="bg1"/>
                </a:solidFill>
                <a:latin typeface="Roboto Light" charset="0"/>
                <a:ea typeface="Roboto Light" charset="0"/>
                <a:cs typeface="Roboto Light" charset="0"/>
              </a:rPr>
              <a:t> </a:t>
            </a:r>
            <a:r>
              <a:rPr lang="en-US" sz="1400" dirty="0" err="1">
                <a:solidFill>
                  <a:schemeClr val="bg1"/>
                </a:solidFill>
                <a:latin typeface="Roboto Light" charset="0"/>
                <a:ea typeface="Roboto Light" charset="0"/>
                <a:cs typeface="Roboto Light" charset="0"/>
              </a:rPr>
              <a:t>d’architecture</a:t>
            </a:r>
            <a:r>
              <a:rPr lang="en-US" sz="1400" dirty="0">
                <a:solidFill>
                  <a:schemeClr val="bg1"/>
                </a:solidFill>
                <a:latin typeface="Roboto Light" charset="0"/>
                <a:ea typeface="Roboto Light" charset="0"/>
                <a:cs typeface="Roboto Light" charset="0"/>
              </a:rPr>
              <a:t> </a:t>
            </a:r>
          </a:p>
        </p:txBody>
      </p:sp>
      <p:sp>
        <p:nvSpPr>
          <p:cNvPr id="14" name="Freeform 36">
            <a:extLst>
              <a:ext uri="{FF2B5EF4-FFF2-40B4-BE49-F238E27FC236}">
                <a16:creationId xmlns:a16="http://schemas.microsoft.com/office/drawing/2014/main" id="{3100ACF2-C4B8-4793-A625-E92F2D67B61A}"/>
              </a:ext>
            </a:extLst>
          </p:cNvPr>
          <p:cNvSpPr/>
          <p:nvPr/>
        </p:nvSpPr>
        <p:spPr>
          <a:xfrm rot="18900000">
            <a:off x="-1135325" y="3708715"/>
            <a:ext cx="2559410" cy="2967775"/>
          </a:xfrm>
          <a:custGeom>
            <a:avLst/>
            <a:gdLst>
              <a:gd name="connsiteX0" fmla="*/ 2559410 w 2559410"/>
              <a:gd name="connsiteY0" fmla="*/ 0 h 2967775"/>
              <a:gd name="connsiteX1" fmla="*/ 2559410 w 2559410"/>
              <a:gd name="connsiteY1" fmla="*/ 2967775 h 2967775"/>
              <a:gd name="connsiteX2" fmla="*/ 408364 w 2559410"/>
              <a:gd name="connsiteY2" fmla="*/ 2967774 h 2967775"/>
              <a:gd name="connsiteX3" fmla="*/ 0 w 2559410"/>
              <a:gd name="connsiteY3" fmla="*/ 2559411 h 2967775"/>
            </a:gdLst>
            <a:ahLst/>
            <a:cxnLst>
              <a:cxn ang="0">
                <a:pos x="connsiteX0" y="connsiteY0"/>
              </a:cxn>
              <a:cxn ang="0">
                <a:pos x="connsiteX1" y="connsiteY1"/>
              </a:cxn>
              <a:cxn ang="0">
                <a:pos x="connsiteX2" y="connsiteY2"/>
              </a:cxn>
              <a:cxn ang="0">
                <a:pos x="connsiteX3" y="connsiteY3"/>
              </a:cxn>
            </a:cxnLst>
            <a:rect l="l" t="t" r="r" b="b"/>
            <a:pathLst>
              <a:path w="2559410" h="2967775">
                <a:moveTo>
                  <a:pt x="2559410" y="0"/>
                </a:moveTo>
                <a:lnTo>
                  <a:pt x="2559410" y="2967775"/>
                </a:lnTo>
                <a:lnTo>
                  <a:pt x="408364" y="2967774"/>
                </a:lnTo>
                <a:lnTo>
                  <a:pt x="0" y="2559411"/>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a:extLst>
              <a:ext uri="{FF2B5EF4-FFF2-40B4-BE49-F238E27FC236}">
                <a16:creationId xmlns:a16="http://schemas.microsoft.com/office/drawing/2014/main" id="{9963D5FB-EDC9-4E50-B68A-E89B0FDE3A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9704" y="1822704"/>
            <a:ext cx="3212592" cy="3212592"/>
          </a:xfrm>
          <a:prstGeom prst="rect">
            <a:avLst/>
          </a:prstGeom>
        </p:spPr>
      </p:pic>
    </p:spTree>
    <p:extLst>
      <p:ext uri="{BB962C8B-B14F-4D97-AF65-F5344CB8AC3E}">
        <p14:creationId xmlns:p14="http://schemas.microsoft.com/office/powerpoint/2010/main" val="286287950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37">
            <a:extLst>
              <a:ext uri="{FF2B5EF4-FFF2-40B4-BE49-F238E27FC236}">
                <a16:creationId xmlns:a16="http://schemas.microsoft.com/office/drawing/2014/main" id="{C9660DDB-F7C9-4EB5-94B6-0137E8570FA2}"/>
              </a:ext>
            </a:extLst>
          </p:cNvPr>
          <p:cNvSpPr/>
          <p:nvPr/>
        </p:nvSpPr>
        <p:spPr>
          <a:xfrm rot="18900000">
            <a:off x="536614" y="5581005"/>
            <a:ext cx="2553990" cy="2553991"/>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523220"/>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1. </a:t>
            </a:r>
            <a:r>
              <a:rPr lang="en-US" sz="1400" dirty="0" err="1">
                <a:solidFill>
                  <a:schemeClr val="bg1"/>
                </a:solidFill>
                <a:latin typeface="Roboto Light" charset="0"/>
                <a:ea typeface="Roboto Light" charset="0"/>
                <a:cs typeface="Roboto Light" charset="0"/>
              </a:rPr>
              <a:t>Gouvernance</a:t>
            </a:r>
            <a:r>
              <a:rPr lang="en-US" sz="1400" dirty="0">
                <a:solidFill>
                  <a:schemeClr val="bg1"/>
                </a:solidFill>
                <a:latin typeface="Roboto Light" charset="0"/>
                <a:ea typeface="Roboto Light" charset="0"/>
                <a:cs typeface="Roboto Light" charset="0"/>
              </a:rPr>
              <a:t> et </a:t>
            </a:r>
            <a:r>
              <a:rPr lang="en-US" sz="1400" dirty="0" err="1">
                <a:solidFill>
                  <a:schemeClr val="bg1"/>
                </a:solidFill>
                <a:latin typeface="Roboto Light" charset="0"/>
                <a:ea typeface="Roboto Light" charset="0"/>
                <a:cs typeface="Roboto Light" charset="0"/>
              </a:rPr>
              <a:t>responsabilités</a:t>
            </a:r>
            <a:endParaRPr lang="en-US" sz="1400" dirty="0">
              <a:solidFill>
                <a:schemeClr val="bg1"/>
              </a:solidFill>
              <a:latin typeface="Roboto Light" charset="0"/>
              <a:ea typeface="Roboto Light" charset="0"/>
              <a:cs typeface="Roboto Light" charset="0"/>
            </a:endParaRPr>
          </a:p>
        </p:txBody>
      </p:sp>
      <p:sp>
        <p:nvSpPr>
          <p:cNvPr id="14" name="Freeform 36">
            <a:extLst>
              <a:ext uri="{FF2B5EF4-FFF2-40B4-BE49-F238E27FC236}">
                <a16:creationId xmlns:a16="http://schemas.microsoft.com/office/drawing/2014/main" id="{3100ACF2-C4B8-4793-A625-E92F2D67B61A}"/>
              </a:ext>
            </a:extLst>
          </p:cNvPr>
          <p:cNvSpPr/>
          <p:nvPr/>
        </p:nvSpPr>
        <p:spPr>
          <a:xfrm rot="18900000">
            <a:off x="-1135325" y="3708715"/>
            <a:ext cx="2559410" cy="2967775"/>
          </a:xfrm>
          <a:custGeom>
            <a:avLst/>
            <a:gdLst>
              <a:gd name="connsiteX0" fmla="*/ 2559410 w 2559410"/>
              <a:gd name="connsiteY0" fmla="*/ 0 h 2967775"/>
              <a:gd name="connsiteX1" fmla="*/ 2559410 w 2559410"/>
              <a:gd name="connsiteY1" fmla="*/ 2967775 h 2967775"/>
              <a:gd name="connsiteX2" fmla="*/ 408364 w 2559410"/>
              <a:gd name="connsiteY2" fmla="*/ 2967774 h 2967775"/>
              <a:gd name="connsiteX3" fmla="*/ 0 w 2559410"/>
              <a:gd name="connsiteY3" fmla="*/ 2559411 h 2967775"/>
            </a:gdLst>
            <a:ahLst/>
            <a:cxnLst>
              <a:cxn ang="0">
                <a:pos x="connsiteX0" y="connsiteY0"/>
              </a:cxn>
              <a:cxn ang="0">
                <a:pos x="connsiteX1" y="connsiteY1"/>
              </a:cxn>
              <a:cxn ang="0">
                <a:pos x="connsiteX2" y="connsiteY2"/>
              </a:cxn>
              <a:cxn ang="0">
                <a:pos x="connsiteX3" y="connsiteY3"/>
              </a:cxn>
            </a:cxnLst>
            <a:rect l="l" t="t" r="r" b="b"/>
            <a:pathLst>
              <a:path w="2559410" h="2967775">
                <a:moveTo>
                  <a:pt x="2559410" y="0"/>
                </a:moveTo>
                <a:lnTo>
                  <a:pt x="2559410" y="2967775"/>
                </a:lnTo>
                <a:lnTo>
                  <a:pt x="408364" y="2967774"/>
                </a:lnTo>
                <a:lnTo>
                  <a:pt x="0" y="2559411"/>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au 1">
            <a:extLst>
              <a:ext uri="{FF2B5EF4-FFF2-40B4-BE49-F238E27FC236}">
                <a16:creationId xmlns:a16="http://schemas.microsoft.com/office/drawing/2014/main" id="{B202CF02-8F2E-4A44-93DE-B6B60CE7646C}"/>
              </a:ext>
            </a:extLst>
          </p:cNvPr>
          <p:cNvGraphicFramePr>
            <a:graphicFrameLocks noGrp="1"/>
          </p:cNvGraphicFramePr>
          <p:nvPr>
            <p:extLst>
              <p:ext uri="{D42A27DB-BD31-4B8C-83A1-F6EECF244321}">
                <p14:modId xmlns:p14="http://schemas.microsoft.com/office/powerpoint/2010/main" val="2875539633"/>
              </p:ext>
            </p:extLst>
          </p:nvPr>
        </p:nvGraphicFramePr>
        <p:xfrm>
          <a:off x="2151875" y="548933"/>
          <a:ext cx="8377801" cy="4322984"/>
        </p:xfrm>
        <a:graphic>
          <a:graphicData uri="http://schemas.openxmlformats.org/drawingml/2006/table">
            <a:tbl>
              <a:tblPr firstRow="1" firstCol="1" bandRow="1">
                <a:tableStyleId>{5C22544A-7EE6-4342-B048-85BDC9FD1C3A}</a:tableStyleId>
              </a:tblPr>
              <a:tblGrid>
                <a:gridCol w="1797158">
                  <a:extLst>
                    <a:ext uri="{9D8B030D-6E8A-4147-A177-3AD203B41FA5}">
                      <a16:colId xmlns:a16="http://schemas.microsoft.com/office/drawing/2014/main" val="2471875268"/>
                    </a:ext>
                  </a:extLst>
                </a:gridCol>
                <a:gridCol w="1691489">
                  <a:extLst>
                    <a:ext uri="{9D8B030D-6E8A-4147-A177-3AD203B41FA5}">
                      <a16:colId xmlns:a16="http://schemas.microsoft.com/office/drawing/2014/main" val="1580467768"/>
                    </a:ext>
                  </a:extLst>
                </a:gridCol>
                <a:gridCol w="4889154">
                  <a:extLst>
                    <a:ext uri="{9D8B030D-6E8A-4147-A177-3AD203B41FA5}">
                      <a16:colId xmlns:a16="http://schemas.microsoft.com/office/drawing/2014/main" val="2364481173"/>
                    </a:ext>
                  </a:extLst>
                </a:gridCol>
              </a:tblGrid>
              <a:tr h="491525">
                <a:tc>
                  <a:txBody>
                    <a:bodyPr/>
                    <a:lstStyle/>
                    <a:p>
                      <a:pPr algn="ctr">
                        <a:lnSpc>
                          <a:spcPct val="115000"/>
                        </a:lnSpc>
                        <a:spcAft>
                          <a:spcPts val="1200"/>
                        </a:spcAft>
                      </a:pPr>
                      <a:r>
                        <a:rPr lang="fr-FR" sz="1200">
                          <a:effectLst/>
                        </a:rPr>
                        <a:t>Partie prenante</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gn="ctr">
                        <a:lnSpc>
                          <a:spcPct val="115000"/>
                        </a:lnSpc>
                        <a:spcAft>
                          <a:spcPts val="1200"/>
                        </a:spcAft>
                      </a:pPr>
                      <a:r>
                        <a:rPr lang="fr-FR" sz="1200">
                          <a:effectLst/>
                        </a:rPr>
                        <a:t>Préoccupation</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gn="ctr">
                        <a:lnSpc>
                          <a:spcPct val="115000"/>
                        </a:lnSpc>
                        <a:spcAft>
                          <a:spcPts val="1200"/>
                        </a:spcAft>
                      </a:pPr>
                      <a:r>
                        <a:rPr lang="fr-FR" sz="1200">
                          <a:effectLst/>
                        </a:rPr>
                        <a:t>Vision</a:t>
                      </a:r>
                      <a:endParaRPr lang="fr-FR" sz="1100">
                        <a:effectLst/>
                        <a:latin typeface="Arial" panose="020B0604020202020204" pitchFamily="34" charset="0"/>
                        <a:ea typeface="Arial" panose="020B0604020202020204" pitchFamily="34" charset="0"/>
                      </a:endParaRPr>
                    </a:p>
                  </a:txBody>
                  <a:tcPr marL="127000" marR="127000" marT="63500" marB="63500"/>
                </a:tc>
                <a:extLst>
                  <a:ext uri="{0D108BD9-81ED-4DB2-BD59-A6C34878D82A}">
                    <a16:rowId xmlns:a16="http://schemas.microsoft.com/office/drawing/2014/main" val="73983538"/>
                  </a:ext>
                </a:extLst>
              </a:tr>
              <a:tr h="1344630">
                <a:tc>
                  <a:txBody>
                    <a:bodyPr/>
                    <a:lstStyle/>
                    <a:p>
                      <a:pPr>
                        <a:lnSpc>
                          <a:spcPct val="115000"/>
                        </a:lnSpc>
                        <a:spcAft>
                          <a:spcPts val="1200"/>
                        </a:spcAft>
                      </a:pPr>
                      <a:r>
                        <a:rPr lang="en-US" sz="1100">
                          <a:effectLst/>
                        </a:rPr>
                        <a:t>Ash Kalum</a:t>
                      </a:r>
                      <a:endParaRPr lang="fr-FR" sz="1100">
                        <a:effectLst/>
                      </a:endParaRPr>
                    </a:p>
                    <a:p>
                      <a:pPr>
                        <a:lnSpc>
                          <a:spcPct val="115000"/>
                        </a:lnSpc>
                        <a:spcAft>
                          <a:spcPts val="1200"/>
                        </a:spcAft>
                      </a:pPr>
                      <a:r>
                        <a:rPr lang="en-US" sz="1100">
                          <a:effectLst/>
                        </a:rPr>
                        <a:t>Jo Kumar</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en-US" sz="1100">
                          <a:effectLst/>
                        </a:rPr>
                        <a:t>CEO</a:t>
                      </a:r>
                      <a:endParaRPr lang="fr-FR" sz="1100">
                        <a:effectLst/>
                      </a:endParaRPr>
                    </a:p>
                    <a:p>
                      <a:pPr>
                        <a:lnSpc>
                          <a:spcPct val="115000"/>
                        </a:lnSpc>
                        <a:spcAft>
                          <a:spcPts val="1200"/>
                        </a:spcAft>
                      </a:pPr>
                      <a:r>
                        <a:rPr lang="en-US" sz="1100">
                          <a:effectLst/>
                        </a:rPr>
                        <a:t>CFO</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fr-FR" sz="1100">
                          <a:effectLst/>
                        </a:rPr>
                        <a:t>Assurer et maintenir un taux positif d’inscriptions de nouveaux utilisateurs. L’implémentation de la notion de géo-ciblage dans la plateforme permettra potentiellement d’assurer une croissance du nombre d’utilisateurs.</a:t>
                      </a:r>
                      <a:endParaRPr lang="fr-FR" sz="1100">
                        <a:effectLst/>
                        <a:latin typeface="Arial" panose="020B0604020202020204" pitchFamily="34" charset="0"/>
                        <a:ea typeface="Arial" panose="020B0604020202020204" pitchFamily="34" charset="0"/>
                      </a:endParaRPr>
                    </a:p>
                  </a:txBody>
                  <a:tcPr marL="127000" marR="127000" marT="63500" marB="63500"/>
                </a:tc>
                <a:extLst>
                  <a:ext uri="{0D108BD9-81ED-4DB2-BD59-A6C34878D82A}">
                    <a16:rowId xmlns:a16="http://schemas.microsoft.com/office/drawing/2014/main" val="144868376"/>
                  </a:ext>
                </a:extLst>
              </a:tr>
              <a:tr h="1260861">
                <a:tc>
                  <a:txBody>
                    <a:bodyPr/>
                    <a:lstStyle/>
                    <a:p>
                      <a:pPr>
                        <a:lnSpc>
                          <a:spcPct val="115000"/>
                        </a:lnSpc>
                        <a:spcAft>
                          <a:spcPts val="1200"/>
                        </a:spcAft>
                      </a:pPr>
                      <a:r>
                        <a:rPr lang="en-US" sz="1100">
                          <a:effectLst/>
                        </a:rPr>
                        <a:t>Daniel Anthony</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fr-FR" sz="1100">
                          <a:effectLst/>
                        </a:rPr>
                        <a:t>CPO</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fr-FR" sz="1100">
                          <a:effectLst/>
                        </a:rPr>
                        <a:t>Améliorer la stabilité et la qualité du service fourni. Récupération des besoins clients et conversions de ces besoins en fonctionnalités à discuter.</a:t>
                      </a:r>
                      <a:endParaRPr lang="fr-FR" sz="1100">
                        <a:effectLst/>
                        <a:latin typeface="Arial" panose="020B0604020202020204" pitchFamily="34" charset="0"/>
                        <a:ea typeface="Arial" panose="020B0604020202020204" pitchFamily="34" charset="0"/>
                      </a:endParaRPr>
                    </a:p>
                  </a:txBody>
                  <a:tcPr marL="127000" marR="127000" marT="63500" marB="63500"/>
                </a:tc>
                <a:extLst>
                  <a:ext uri="{0D108BD9-81ED-4DB2-BD59-A6C34878D82A}">
                    <a16:rowId xmlns:a16="http://schemas.microsoft.com/office/drawing/2014/main" val="4255688814"/>
                  </a:ext>
                </a:extLst>
              </a:tr>
              <a:tr h="466654">
                <a:tc>
                  <a:txBody>
                    <a:bodyPr/>
                    <a:lstStyle/>
                    <a:p>
                      <a:pPr>
                        <a:lnSpc>
                          <a:spcPct val="115000"/>
                        </a:lnSpc>
                        <a:spcAft>
                          <a:spcPts val="1200"/>
                        </a:spcAft>
                      </a:pPr>
                      <a:r>
                        <a:rPr lang="en-US" sz="1100">
                          <a:effectLst/>
                        </a:rPr>
                        <a:t>Christina Orgega</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fr-FR" sz="1100">
                          <a:effectLst/>
                        </a:rPr>
                        <a:t>CMO</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fr-FR" sz="1100">
                          <a:effectLst/>
                        </a:rPr>
                        <a:t>Assurer et maintenir une bonne visibilité de la plateforme.</a:t>
                      </a:r>
                      <a:endParaRPr lang="fr-FR" sz="1100">
                        <a:effectLst/>
                        <a:latin typeface="Arial" panose="020B0604020202020204" pitchFamily="34" charset="0"/>
                        <a:ea typeface="Arial" panose="020B0604020202020204" pitchFamily="34" charset="0"/>
                      </a:endParaRPr>
                    </a:p>
                  </a:txBody>
                  <a:tcPr marL="127000" marR="127000" marT="63500" marB="63500"/>
                </a:tc>
                <a:extLst>
                  <a:ext uri="{0D108BD9-81ED-4DB2-BD59-A6C34878D82A}">
                    <a16:rowId xmlns:a16="http://schemas.microsoft.com/office/drawing/2014/main" val="2330144687"/>
                  </a:ext>
                </a:extLst>
              </a:tr>
              <a:tr h="759314">
                <a:tc>
                  <a:txBody>
                    <a:bodyPr/>
                    <a:lstStyle/>
                    <a:p>
                      <a:pPr>
                        <a:lnSpc>
                          <a:spcPct val="115000"/>
                        </a:lnSpc>
                        <a:spcAft>
                          <a:spcPts val="1200"/>
                        </a:spcAft>
                      </a:pPr>
                      <a:r>
                        <a:rPr lang="en-US" sz="1100">
                          <a:effectLst/>
                        </a:rPr>
                        <a:t>Natasha Jarson</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fr-FR" sz="1100">
                          <a:effectLst/>
                        </a:rPr>
                        <a:t>CIO</a:t>
                      </a:r>
                      <a:endParaRPr lang="fr-FR" sz="1100">
                        <a:effectLst/>
                        <a:latin typeface="Arial" panose="020B0604020202020204" pitchFamily="34" charset="0"/>
                        <a:ea typeface="Arial" panose="020B0604020202020204" pitchFamily="34" charset="0"/>
                      </a:endParaRPr>
                    </a:p>
                  </a:txBody>
                  <a:tcPr marL="127000" marR="127000" marT="63500" marB="63500"/>
                </a:tc>
                <a:tc>
                  <a:txBody>
                    <a:bodyPr/>
                    <a:lstStyle/>
                    <a:p>
                      <a:pPr>
                        <a:lnSpc>
                          <a:spcPct val="115000"/>
                        </a:lnSpc>
                        <a:spcAft>
                          <a:spcPts val="1200"/>
                        </a:spcAft>
                      </a:pPr>
                      <a:r>
                        <a:rPr lang="fr-FR" sz="1100" dirty="0">
                          <a:effectLst/>
                        </a:rPr>
                        <a:t>Assurer un périmètre architectural clair / améliorer celui-ci au besoin afin de soutenir la croissance à venir de </a:t>
                      </a:r>
                      <a:r>
                        <a:rPr lang="fr-FR" sz="1100" dirty="0" err="1">
                          <a:effectLst/>
                        </a:rPr>
                        <a:t>Foosus</a:t>
                      </a:r>
                      <a:r>
                        <a:rPr lang="fr-FR" sz="1100" dirty="0">
                          <a:effectLst/>
                        </a:rPr>
                        <a:t>.</a:t>
                      </a:r>
                      <a:endParaRPr lang="fr-FR" sz="1100" dirty="0">
                        <a:effectLst/>
                        <a:latin typeface="Arial" panose="020B0604020202020204" pitchFamily="34" charset="0"/>
                        <a:ea typeface="Arial" panose="020B0604020202020204" pitchFamily="34" charset="0"/>
                      </a:endParaRPr>
                    </a:p>
                  </a:txBody>
                  <a:tcPr marL="127000" marR="127000" marT="63500" marB="63500"/>
                </a:tc>
                <a:extLst>
                  <a:ext uri="{0D108BD9-81ED-4DB2-BD59-A6C34878D82A}">
                    <a16:rowId xmlns:a16="http://schemas.microsoft.com/office/drawing/2014/main" val="345795759"/>
                  </a:ext>
                </a:extLst>
              </a:tr>
            </a:tbl>
          </a:graphicData>
        </a:graphic>
      </p:graphicFrame>
    </p:spTree>
    <p:extLst>
      <p:ext uri="{BB962C8B-B14F-4D97-AF65-F5344CB8AC3E}">
        <p14:creationId xmlns:p14="http://schemas.microsoft.com/office/powerpoint/2010/main" val="370275712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523220"/>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1. </a:t>
            </a:r>
            <a:r>
              <a:rPr lang="en-US" sz="1400" dirty="0" err="1">
                <a:solidFill>
                  <a:schemeClr val="bg1"/>
                </a:solidFill>
                <a:latin typeface="Roboto Light" charset="0"/>
                <a:ea typeface="Roboto Light" charset="0"/>
                <a:cs typeface="Roboto Light" charset="0"/>
              </a:rPr>
              <a:t>Gouvernance</a:t>
            </a:r>
            <a:r>
              <a:rPr lang="en-US" sz="1400" dirty="0">
                <a:solidFill>
                  <a:schemeClr val="bg1"/>
                </a:solidFill>
                <a:latin typeface="Roboto Light" charset="0"/>
                <a:ea typeface="Roboto Light" charset="0"/>
                <a:cs typeface="Roboto Light" charset="0"/>
              </a:rPr>
              <a:t> et </a:t>
            </a:r>
            <a:r>
              <a:rPr lang="en-US" sz="1400" dirty="0" err="1">
                <a:solidFill>
                  <a:schemeClr val="bg1"/>
                </a:solidFill>
                <a:latin typeface="Roboto Light" charset="0"/>
                <a:ea typeface="Roboto Light" charset="0"/>
                <a:cs typeface="Roboto Light" charset="0"/>
              </a:rPr>
              <a:t>responsabilités</a:t>
            </a:r>
            <a:endParaRPr lang="en-US" sz="1400" dirty="0">
              <a:solidFill>
                <a:schemeClr val="bg1"/>
              </a:solidFill>
              <a:latin typeface="Roboto Light" charset="0"/>
              <a:ea typeface="Roboto Light" charset="0"/>
              <a:cs typeface="Roboto Light" charset="0"/>
            </a:endParaRPr>
          </a:p>
        </p:txBody>
      </p:sp>
      <p:pic>
        <p:nvPicPr>
          <p:cNvPr id="7" name="Image 6">
            <a:extLst>
              <a:ext uri="{FF2B5EF4-FFF2-40B4-BE49-F238E27FC236}">
                <a16:creationId xmlns:a16="http://schemas.microsoft.com/office/drawing/2014/main" id="{35A2512A-9F06-4BC3-BE72-A932D42C6B0D}"/>
              </a:ext>
            </a:extLst>
          </p:cNvPr>
          <p:cNvPicPr/>
          <p:nvPr/>
        </p:nvPicPr>
        <p:blipFill>
          <a:blip r:embed="rId3"/>
          <a:stretch>
            <a:fillRect/>
          </a:stretch>
        </p:blipFill>
        <p:spPr>
          <a:xfrm>
            <a:off x="707137" y="1986084"/>
            <a:ext cx="11167114" cy="3704277"/>
          </a:xfrm>
          <a:prstGeom prst="rect">
            <a:avLst/>
          </a:prstGeom>
          <a:noFill/>
          <a:ln>
            <a:noFill/>
            <a:prstDash/>
          </a:ln>
        </p:spPr>
      </p:pic>
      <p:sp>
        <p:nvSpPr>
          <p:cNvPr id="8" name="ZoneTexte 7">
            <a:extLst>
              <a:ext uri="{FF2B5EF4-FFF2-40B4-BE49-F238E27FC236}">
                <a16:creationId xmlns:a16="http://schemas.microsoft.com/office/drawing/2014/main" id="{A1A3B604-7207-4815-8366-89DA94E93554}"/>
              </a:ext>
            </a:extLst>
          </p:cNvPr>
          <p:cNvSpPr txBox="1"/>
          <p:nvPr/>
        </p:nvSpPr>
        <p:spPr>
          <a:xfrm>
            <a:off x="4349911" y="1469295"/>
            <a:ext cx="3492178" cy="369332"/>
          </a:xfrm>
          <a:prstGeom prst="rect">
            <a:avLst/>
          </a:prstGeom>
          <a:noFill/>
        </p:spPr>
        <p:txBody>
          <a:bodyPr wrap="square" rtlCol="0">
            <a:spAutoFit/>
          </a:bodyPr>
          <a:lstStyle/>
          <a:p>
            <a:pPr algn="ctr"/>
            <a:r>
              <a:rPr lang="fr-FR" dirty="0">
                <a:effectLst/>
                <a:latin typeface="Arial" panose="020B0604020202020204" pitchFamily="34" charset="0"/>
              </a:rPr>
              <a:t>Matrice RACI du projet</a:t>
            </a:r>
            <a:endParaRPr lang="fr-FR" dirty="0"/>
          </a:p>
        </p:txBody>
      </p:sp>
    </p:spTree>
    <p:extLst>
      <p:ext uri="{BB962C8B-B14F-4D97-AF65-F5344CB8AC3E}">
        <p14:creationId xmlns:p14="http://schemas.microsoft.com/office/powerpoint/2010/main" val="31601212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11</a:t>
            </a:fld>
            <a:endParaRPr lang="en-US"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307777"/>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2. Conditions </a:t>
            </a:r>
            <a:r>
              <a:rPr lang="en-US" sz="1400" dirty="0" err="1">
                <a:solidFill>
                  <a:schemeClr val="bg1"/>
                </a:solidFill>
                <a:latin typeface="Roboto Light" charset="0"/>
                <a:ea typeface="Roboto Light" charset="0"/>
                <a:cs typeface="Roboto Light" charset="0"/>
              </a:rPr>
              <a:t>requises</a:t>
            </a:r>
            <a:endParaRPr lang="en-US" sz="1400" dirty="0">
              <a:solidFill>
                <a:schemeClr val="bg1"/>
              </a:solidFill>
              <a:latin typeface="Roboto Light" charset="0"/>
              <a:ea typeface="Roboto Light" charset="0"/>
              <a:cs typeface="Roboto Light" charset="0"/>
            </a:endParaRPr>
          </a:p>
        </p:txBody>
      </p:sp>
      <p:pic>
        <p:nvPicPr>
          <p:cNvPr id="4" name="Image 3">
            <a:extLst>
              <a:ext uri="{FF2B5EF4-FFF2-40B4-BE49-F238E27FC236}">
                <a16:creationId xmlns:a16="http://schemas.microsoft.com/office/drawing/2014/main" id="{2F845CB6-8A37-49DD-9020-F1555E849237}"/>
              </a:ext>
            </a:extLst>
          </p:cNvPr>
          <p:cNvPicPr>
            <a:picLocks noChangeAspect="1"/>
          </p:cNvPicPr>
          <p:nvPr/>
        </p:nvPicPr>
        <p:blipFill rotWithShape="1">
          <a:blip r:embed="rId3"/>
          <a:srcRect r="65081"/>
          <a:stretch/>
        </p:blipFill>
        <p:spPr>
          <a:xfrm>
            <a:off x="4236109" y="2096384"/>
            <a:ext cx="3774035" cy="3008722"/>
          </a:xfrm>
          <a:prstGeom prst="rect">
            <a:avLst/>
          </a:prstGeom>
        </p:spPr>
      </p:pic>
      <p:sp>
        <p:nvSpPr>
          <p:cNvPr id="13" name="ZoneTexte 12">
            <a:extLst>
              <a:ext uri="{FF2B5EF4-FFF2-40B4-BE49-F238E27FC236}">
                <a16:creationId xmlns:a16="http://schemas.microsoft.com/office/drawing/2014/main" id="{E0532863-8427-4AB2-9D3D-674BF2E5F4D2}"/>
              </a:ext>
            </a:extLst>
          </p:cNvPr>
          <p:cNvSpPr txBox="1"/>
          <p:nvPr/>
        </p:nvSpPr>
        <p:spPr>
          <a:xfrm>
            <a:off x="4377037" y="1616752"/>
            <a:ext cx="3492178" cy="369332"/>
          </a:xfrm>
          <a:prstGeom prst="rect">
            <a:avLst/>
          </a:prstGeom>
          <a:noFill/>
        </p:spPr>
        <p:txBody>
          <a:bodyPr wrap="square" rtlCol="0">
            <a:spAutoFit/>
          </a:bodyPr>
          <a:lstStyle/>
          <a:p>
            <a:pPr algn="ctr"/>
            <a:r>
              <a:rPr lang="fr-FR" u="sng" dirty="0">
                <a:effectLst/>
                <a:latin typeface="Arial" panose="020B0604020202020204" pitchFamily="34" charset="0"/>
              </a:rPr>
              <a:t>Business</a:t>
            </a:r>
            <a:endParaRPr lang="fr-FR" u="sng" dirty="0"/>
          </a:p>
        </p:txBody>
      </p:sp>
    </p:spTree>
    <p:extLst>
      <p:ext uri="{BB962C8B-B14F-4D97-AF65-F5344CB8AC3E}">
        <p14:creationId xmlns:p14="http://schemas.microsoft.com/office/powerpoint/2010/main" val="91001876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12</a:t>
            </a:fld>
            <a:endParaRPr lang="en-US"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307777"/>
          </a:xfrm>
          <a:prstGeom prst="rect">
            <a:avLst/>
          </a:prstGeom>
          <a:noFill/>
        </p:spPr>
        <p:txBody>
          <a:bodyPr wrap="square" rtlCol="0">
            <a:spAutoFit/>
          </a:bodyPr>
          <a:lstStyle/>
          <a:p>
            <a:pPr marL="380990" indent="-380990">
              <a:buClr>
                <a:schemeClr val="accent2"/>
              </a:buClr>
              <a:buFont typeface="+mj-lt"/>
              <a:buAutoNum type="arabicPeriod"/>
            </a:pPr>
            <a:r>
              <a:rPr lang="en-US" sz="1400" dirty="0">
                <a:solidFill>
                  <a:schemeClr val="bg1"/>
                </a:solidFill>
                <a:latin typeface="Roboto Light" charset="0"/>
                <a:ea typeface="Roboto Light" charset="0"/>
                <a:cs typeface="Roboto Light" charset="0"/>
              </a:rPr>
              <a:t>Conditions </a:t>
            </a:r>
            <a:r>
              <a:rPr lang="en-US" sz="1400" dirty="0" err="1">
                <a:solidFill>
                  <a:schemeClr val="bg1"/>
                </a:solidFill>
                <a:latin typeface="Roboto Light" charset="0"/>
                <a:ea typeface="Roboto Light" charset="0"/>
                <a:cs typeface="Roboto Light" charset="0"/>
              </a:rPr>
              <a:t>requises</a:t>
            </a:r>
            <a:endParaRPr lang="en-US" sz="1400" dirty="0">
              <a:solidFill>
                <a:schemeClr val="bg1"/>
              </a:solidFill>
              <a:latin typeface="Roboto Light" charset="0"/>
              <a:ea typeface="Roboto Light" charset="0"/>
              <a:cs typeface="Roboto Light" charset="0"/>
            </a:endParaRPr>
          </a:p>
        </p:txBody>
      </p:sp>
      <p:sp>
        <p:nvSpPr>
          <p:cNvPr id="47" name="TextBox 33">
            <a:extLst>
              <a:ext uri="{FF2B5EF4-FFF2-40B4-BE49-F238E27FC236}">
                <a16:creationId xmlns:a16="http://schemas.microsoft.com/office/drawing/2014/main" id="{C45F7414-01AA-4952-AA86-D234B379A38E}"/>
              </a:ext>
            </a:extLst>
          </p:cNvPr>
          <p:cNvSpPr txBox="1"/>
          <p:nvPr/>
        </p:nvSpPr>
        <p:spPr>
          <a:xfrm>
            <a:off x="1127179" y="2299794"/>
            <a:ext cx="3329284" cy="338554"/>
          </a:xfrm>
          <a:prstGeom prst="rect">
            <a:avLst/>
          </a:prstGeom>
          <a:noFill/>
        </p:spPr>
        <p:txBody>
          <a:bodyPr wrap="square" rtlCol="0">
            <a:spAutoFit/>
          </a:bodyPr>
          <a:lstStyle/>
          <a:p>
            <a:pPr algn="ctr"/>
            <a:r>
              <a:rPr lang="en-US" sz="1600" dirty="0">
                <a:latin typeface="Roboto Light" charset="0"/>
                <a:ea typeface="Roboto Light" charset="0"/>
                <a:cs typeface="Roboto Light" charset="0"/>
              </a:rPr>
              <a:t>Phase de test </a:t>
            </a:r>
            <a:r>
              <a:rPr lang="en-US" sz="1600" dirty="0" err="1">
                <a:latin typeface="Roboto Light" charset="0"/>
                <a:ea typeface="Roboto Light" charset="0"/>
                <a:cs typeface="Roboto Light" charset="0"/>
              </a:rPr>
              <a:t>unitaire</a:t>
            </a:r>
            <a:r>
              <a:rPr lang="en-US" sz="1600" dirty="0">
                <a:latin typeface="Roboto Light" charset="0"/>
                <a:ea typeface="Roboto Light" charset="0"/>
                <a:cs typeface="Roboto Light" charset="0"/>
              </a:rPr>
              <a:t> </a:t>
            </a:r>
            <a:r>
              <a:rPr lang="en-US" sz="1600" dirty="0" err="1">
                <a:latin typeface="Roboto Light" charset="0"/>
                <a:ea typeface="Roboto Light" charset="0"/>
                <a:cs typeface="Roboto Light" charset="0"/>
              </a:rPr>
              <a:t>obligatoire</a:t>
            </a:r>
            <a:endParaRPr lang="en-US" sz="1600" dirty="0">
              <a:latin typeface="Roboto Light" charset="0"/>
              <a:ea typeface="Roboto Light" charset="0"/>
              <a:cs typeface="Roboto Light" charset="0"/>
            </a:endParaRPr>
          </a:p>
        </p:txBody>
      </p:sp>
      <p:sp>
        <p:nvSpPr>
          <p:cNvPr id="51" name="Freeform 41">
            <a:extLst>
              <a:ext uri="{FF2B5EF4-FFF2-40B4-BE49-F238E27FC236}">
                <a16:creationId xmlns:a16="http://schemas.microsoft.com/office/drawing/2014/main" id="{5E359A35-A6CF-42AC-9D23-9E94055A14D0}"/>
              </a:ext>
            </a:extLst>
          </p:cNvPr>
          <p:cNvSpPr>
            <a:spLocks noChangeArrowheads="1"/>
          </p:cNvSpPr>
          <p:nvPr/>
        </p:nvSpPr>
        <p:spPr bwMode="auto">
          <a:xfrm>
            <a:off x="2579131" y="1470945"/>
            <a:ext cx="400859" cy="351774"/>
          </a:xfrm>
          <a:custGeom>
            <a:avLst/>
            <a:gdLst>
              <a:gd name="T0" fmla="*/ 378 w 430"/>
              <a:gd name="T1" fmla="*/ 22 h 379"/>
              <a:gd name="T2" fmla="*/ 346 w 430"/>
              <a:gd name="T3" fmla="*/ 0 h 379"/>
              <a:gd name="T4" fmla="*/ 82 w 430"/>
              <a:gd name="T5" fmla="*/ 0 h 379"/>
              <a:gd name="T6" fmla="*/ 50 w 430"/>
              <a:gd name="T7" fmla="*/ 22 h 379"/>
              <a:gd name="T8" fmla="*/ 0 w 430"/>
              <a:gd name="T9" fmla="*/ 164 h 379"/>
              <a:gd name="T10" fmla="*/ 0 w 430"/>
              <a:gd name="T11" fmla="*/ 355 h 379"/>
              <a:gd name="T12" fmla="*/ 23 w 430"/>
              <a:gd name="T13" fmla="*/ 378 h 379"/>
              <a:gd name="T14" fmla="*/ 46 w 430"/>
              <a:gd name="T15" fmla="*/ 378 h 379"/>
              <a:gd name="T16" fmla="*/ 69 w 430"/>
              <a:gd name="T17" fmla="*/ 355 h 379"/>
              <a:gd name="T18" fmla="*/ 69 w 430"/>
              <a:gd name="T19" fmla="*/ 332 h 379"/>
              <a:gd name="T20" fmla="*/ 356 w 430"/>
              <a:gd name="T21" fmla="*/ 332 h 379"/>
              <a:gd name="T22" fmla="*/ 356 w 430"/>
              <a:gd name="T23" fmla="*/ 355 h 379"/>
              <a:gd name="T24" fmla="*/ 378 w 430"/>
              <a:gd name="T25" fmla="*/ 378 h 379"/>
              <a:gd name="T26" fmla="*/ 406 w 430"/>
              <a:gd name="T27" fmla="*/ 378 h 379"/>
              <a:gd name="T28" fmla="*/ 429 w 430"/>
              <a:gd name="T29" fmla="*/ 355 h 379"/>
              <a:gd name="T30" fmla="*/ 429 w 430"/>
              <a:gd name="T31" fmla="*/ 164 h 379"/>
              <a:gd name="T32" fmla="*/ 378 w 430"/>
              <a:gd name="T33" fmla="*/ 22 h 379"/>
              <a:gd name="T34" fmla="*/ 82 w 430"/>
              <a:gd name="T35" fmla="*/ 259 h 379"/>
              <a:gd name="T36" fmla="*/ 46 w 430"/>
              <a:gd name="T37" fmla="*/ 223 h 379"/>
              <a:gd name="T38" fmla="*/ 82 w 430"/>
              <a:gd name="T39" fmla="*/ 186 h 379"/>
              <a:gd name="T40" fmla="*/ 119 w 430"/>
              <a:gd name="T41" fmla="*/ 223 h 379"/>
              <a:gd name="T42" fmla="*/ 82 w 430"/>
              <a:gd name="T43" fmla="*/ 259 h 379"/>
              <a:gd name="T44" fmla="*/ 346 w 430"/>
              <a:gd name="T45" fmla="*/ 259 h 379"/>
              <a:gd name="T46" fmla="*/ 310 w 430"/>
              <a:gd name="T47" fmla="*/ 223 h 379"/>
              <a:gd name="T48" fmla="*/ 346 w 430"/>
              <a:gd name="T49" fmla="*/ 186 h 379"/>
              <a:gd name="T50" fmla="*/ 378 w 430"/>
              <a:gd name="T51" fmla="*/ 223 h 379"/>
              <a:gd name="T52" fmla="*/ 346 w 430"/>
              <a:gd name="T53" fmla="*/ 259 h 379"/>
              <a:gd name="T54" fmla="*/ 46 w 430"/>
              <a:gd name="T55" fmla="*/ 141 h 379"/>
              <a:gd name="T56" fmla="*/ 82 w 430"/>
              <a:gd name="T57" fmla="*/ 31 h 379"/>
              <a:gd name="T58" fmla="*/ 346 w 430"/>
              <a:gd name="T59" fmla="*/ 31 h 379"/>
              <a:gd name="T60" fmla="*/ 378 w 430"/>
              <a:gd name="T61" fmla="*/ 141 h 379"/>
              <a:gd name="T62" fmla="*/ 46 w 430"/>
              <a:gd name="T63" fmla="*/ 141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0" h="379">
                <a:moveTo>
                  <a:pt x="378" y="22"/>
                </a:moveTo>
                <a:cubicBezTo>
                  <a:pt x="374" y="9"/>
                  <a:pt x="360" y="0"/>
                  <a:pt x="346" y="0"/>
                </a:cubicBezTo>
                <a:lnTo>
                  <a:pt x="82" y="0"/>
                </a:lnTo>
                <a:cubicBezTo>
                  <a:pt x="64" y="0"/>
                  <a:pt x="55" y="9"/>
                  <a:pt x="50" y="22"/>
                </a:cubicBezTo>
                <a:lnTo>
                  <a:pt x="0" y="164"/>
                </a:lnTo>
                <a:lnTo>
                  <a:pt x="0" y="355"/>
                </a:lnTo>
                <a:cubicBezTo>
                  <a:pt x="0" y="369"/>
                  <a:pt x="9" y="378"/>
                  <a:pt x="23" y="378"/>
                </a:cubicBezTo>
                <a:lnTo>
                  <a:pt x="46" y="378"/>
                </a:lnTo>
                <a:cubicBezTo>
                  <a:pt x="59" y="378"/>
                  <a:pt x="69" y="369"/>
                  <a:pt x="69" y="355"/>
                </a:cubicBezTo>
                <a:lnTo>
                  <a:pt x="69" y="332"/>
                </a:lnTo>
                <a:lnTo>
                  <a:pt x="356" y="332"/>
                </a:lnTo>
                <a:lnTo>
                  <a:pt x="356" y="355"/>
                </a:lnTo>
                <a:cubicBezTo>
                  <a:pt x="356" y="369"/>
                  <a:pt x="365" y="378"/>
                  <a:pt x="378" y="378"/>
                </a:cubicBezTo>
                <a:lnTo>
                  <a:pt x="406" y="378"/>
                </a:lnTo>
                <a:cubicBezTo>
                  <a:pt x="419" y="378"/>
                  <a:pt x="429" y="369"/>
                  <a:pt x="429" y="355"/>
                </a:cubicBezTo>
                <a:lnTo>
                  <a:pt x="429" y="164"/>
                </a:lnTo>
                <a:lnTo>
                  <a:pt x="378" y="22"/>
                </a:lnTo>
                <a:close/>
                <a:moveTo>
                  <a:pt x="82" y="259"/>
                </a:moveTo>
                <a:cubicBezTo>
                  <a:pt x="64" y="259"/>
                  <a:pt x="46" y="241"/>
                  <a:pt x="46" y="223"/>
                </a:cubicBezTo>
                <a:cubicBezTo>
                  <a:pt x="46" y="205"/>
                  <a:pt x="64" y="186"/>
                  <a:pt x="82" y="186"/>
                </a:cubicBezTo>
                <a:cubicBezTo>
                  <a:pt x="100" y="186"/>
                  <a:pt x="119" y="205"/>
                  <a:pt x="119" y="223"/>
                </a:cubicBezTo>
                <a:cubicBezTo>
                  <a:pt x="119" y="241"/>
                  <a:pt x="100" y="259"/>
                  <a:pt x="82" y="259"/>
                </a:cubicBezTo>
                <a:close/>
                <a:moveTo>
                  <a:pt x="346" y="259"/>
                </a:moveTo>
                <a:cubicBezTo>
                  <a:pt x="324" y="259"/>
                  <a:pt x="310" y="241"/>
                  <a:pt x="310" y="223"/>
                </a:cubicBezTo>
                <a:cubicBezTo>
                  <a:pt x="310" y="205"/>
                  <a:pt x="326" y="186"/>
                  <a:pt x="346" y="186"/>
                </a:cubicBezTo>
                <a:cubicBezTo>
                  <a:pt x="367" y="186"/>
                  <a:pt x="378" y="205"/>
                  <a:pt x="378" y="223"/>
                </a:cubicBezTo>
                <a:cubicBezTo>
                  <a:pt x="378" y="241"/>
                  <a:pt x="365" y="259"/>
                  <a:pt x="346" y="259"/>
                </a:cubicBezTo>
                <a:close/>
                <a:moveTo>
                  <a:pt x="46" y="141"/>
                </a:moveTo>
                <a:lnTo>
                  <a:pt x="82" y="31"/>
                </a:lnTo>
                <a:lnTo>
                  <a:pt x="346" y="31"/>
                </a:lnTo>
                <a:lnTo>
                  <a:pt x="378" y="141"/>
                </a:lnTo>
                <a:lnTo>
                  <a:pt x="46" y="141"/>
                </a:lnTo>
                <a:close/>
              </a:path>
            </a:pathLst>
          </a:custGeom>
          <a:solidFill>
            <a:schemeClr val="bg1"/>
          </a:solidFill>
          <a:ln>
            <a:noFill/>
          </a:ln>
          <a:effectLst/>
        </p:spPr>
        <p:txBody>
          <a:bodyPr wrap="none" anchor="ctr"/>
          <a:lstStyle/>
          <a:p>
            <a:endParaRPr lang="en-US"/>
          </a:p>
        </p:txBody>
      </p:sp>
      <p:sp>
        <p:nvSpPr>
          <p:cNvPr id="55" name="Oval 31">
            <a:extLst>
              <a:ext uri="{FF2B5EF4-FFF2-40B4-BE49-F238E27FC236}">
                <a16:creationId xmlns:a16="http://schemas.microsoft.com/office/drawing/2014/main" id="{2006A3DD-EFE3-4F92-8C3A-F2123705AF13}"/>
              </a:ext>
            </a:extLst>
          </p:cNvPr>
          <p:cNvSpPr>
            <a:spLocks noChangeAspect="1"/>
          </p:cNvSpPr>
          <p:nvPr/>
        </p:nvSpPr>
        <p:spPr>
          <a:xfrm>
            <a:off x="2216094" y="1071104"/>
            <a:ext cx="1151456" cy="1151456"/>
          </a:xfrm>
          <a:prstGeom prst="ellipse">
            <a:avLst/>
          </a:prstGeom>
          <a:solidFill>
            <a:schemeClr val="accent6"/>
          </a:solidFill>
          <a:ln w="12700">
            <a:noFill/>
          </a:ln>
          <a:effectLst>
            <a:outerShdw blurRad="50800" dist="25400" dir="5400000" algn="ctr"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6" name="Image 55">
            <a:extLst>
              <a:ext uri="{FF2B5EF4-FFF2-40B4-BE49-F238E27FC236}">
                <a16:creationId xmlns:a16="http://schemas.microsoft.com/office/drawing/2014/main" id="{FBEDF339-B134-49DA-89A2-1664CA187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4621" y="1189632"/>
            <a:ext cx="914400" cy="914400"/>
          </a:xfrm>
          <a:prstGeom prst="rect">
            <a:avLst/>
          </a:prstGeom>
        </p:spPr>
      </p:pic>
      <p:sp>
        <p:nvSpPr>
          <p:cNvPr id="20" name="TextBox 33">
            <a:extLst>
              <a:ext uri="{FF2B5EF4-FFF2-40B4-BE49-F238E27FC236}">
                <a16:creationId xmlns:a16="http://schemas.microsoft.com/office/drawing/2014/main" id="{B9FAA703-1D1F-408B-B7E0-FB8D2AB9D709}"/>
              </a:ext>
            </a:extLst>
          </p:cNvPr>
          <p:cNvSpPr txBox="1"/>
          <p:nvPr/>
        </p:nvSpPr>
        <p:spPr>
          <a:xfrm>
            <a:off x="4688416" y="444357"/>
            <a:ext cx="3329284" cy="369332"/>
          </a:xfrm>
          <a:prstGeom prst="rect">
            <a:avLst/>
          </a:prstGeom>
          <a:noFill/>
        </p:spPr>
        <p:txBody>
          <a:bodyPr wrap="square" rtlCol="0">
            <a:spAutoFit/>
          </a:bodyPr>
          <a:lstStyle/>
          <a:p>
            <a:pPr algn="ctr"/>
            <a:r>
              <a:rPr lang="fr-FR" b="1" u="sng" dirty="0"/>
              <a:t>Management du service IT</a:t>
            </a:r>
            <a:endParaRPr lang="en-US" sz="1600" b="1" u="sng" dirty="0">
              <a:latin typeface="Roboto Light" charset="0"/>
              <a:ea typeface="Roboto Light" charset="0"/>
              <a:cs typeface="Roboto Light" charset="0"/>
            </a:endParaRPr>
          </a:p>
        </p:txBody>
      </p:sp>
      <p:sp>
        <p:nvSpPr>
          <p:cNvPr id="21" name="TextBox 33">
            <a:extLst>
              <a:ext uri="{FF2B5EF4-FFF2-40B4-BE49-F238E27FC236}">
                <a16:creationId xmlns:a16="http://schemas.microsoft.com/office/drawing/2014/main" id="{9345E189-E2AC-45C2-92E7-BE319BD6D642}"/>
              </a:ext>
            </a:extLst>
          </p:cNvPr>
          <p:cNvSpPr txBox="1"/>
          <p:nvPr/>
        </p:nvSpPr>
        <p:spPr>
          <a:xfrm>
            <a:off x="4569889" y="2300374"/>
            <a:ext cx="3329284" cy="338554"/>
          </a:xfrm>
          <a:prstGeom prst="rect">
            <a:avLst/>
          </a:prstGeom>
          <a:noFill/>
        </p:spPr>
        <p:txBody>
          <a:bodyPr wrap="square" rtlCol="0">
            <a:spAutoFit/>
          </a:bodyPr>
          <a:lstStyle/>
          <a:p>
            <a:pPr algn="ctr"/>
            <a:r>
              <a:rPr lang="en-US" sz="1600" dirty="0">
                <a:latin typeface="Roboto Light" charset="0"/>
                <a:ea typeface="Roboto Light" charset="0"/>
                <a:cs typeface="Roboto Light" charset="0"/>
              </a:rPr>
              <a:t>Documentation du code</a:t>
            </a:r>
          </a:p>
        </p:txBody>
      </p:sp>
      <p:sp>
        <p:nvSpPr>
          <p:cNvPr id="22" name="Freeform 41">
            <a:extLst>
              <a:ext uri="{FF2B5EF4-FFF2-40B4-BE49-F238E27FC236}">
                <a16:creationId xmlns:a16="http://schemas.microsoft.com/office/drawing/2014/main" id="{A7F06CE1-551C-45F6-8BB7-3736ECD7EF37}"/>
              </a:ext>
            </a:extLst>
          </p:cNvPr>
          <p:cNvSpPr>
            <a:spLocks noChangeArrowheads="1"/>
          </p:cNvSpPr>
          <p:nvPr/>
        </p:nvSpPr>
        <p:spPr bwMode="auto">
          <a:xfrm>
            <a:off x="6021841" y="1471525"/>
            <a:ext cx="400859" cy="351774"/>
          </a:xfrm>
          <a:custGeom>
            <a:avLst/>
            <a:gdLst>
              <a:gd name="T0" fmla="*/ 378 w 430"/>
              <a:gd name="T1" fmla="*/ 22 h 379"/>
              <a:gd name="T2" fmla="*/ 346 w 430"/>
              <a:gd name="T3" fmla="*/ 0 h 379"/>
              <a:gd name="T4" fmla="*/ 82 w 430"/>
              <a:gd name="T5" fmla="*/ 0 h 379"/>
              <a:gd name="T6" fmla="*/ 50 w 430"/>
              <a:gd name="T7" fmla="*/ 22 h 379"/>
              <a:gd name="T8" fmla="*/ 0 w 430"/>
              <a:gd name="T9" fmla="*/ 164 h 379"/>
              <a:gd name="T10" fmla="*/ 0 w 430"/>
              <a:gd name="T11" fmla="*/ 355 h 379"/>
              <a:gd name="T12" fmla="*/ 23 w 430"/>
              <a:gd name="T13" fmla="*/ 378 h 379"/>
              <a:gd name="T14" fmla="*/ 46 w 430"/>
              <a:gd name="T15" fmla="*/ 378 h 379"/>
              <a:gd name="T16" fmla="*/ 69 w 430"/>
              <a:gd name="T17" fmla="*/ 355 h 379"/>
              <a:gd name="T18" fmla="*/ 69 w 430"/>
              <a:gd name="T19" fmla="*/ 332 h 379"/>
              <a:gd name="T20" fmla="*/ 356 w 430"/>
              <a:gd name="T21" fmla="*/ 332 h 379"/>
              <a:gd name="T22" fmla="*/ 356 w 430"/>
              <a:gd name="T23" fmla="*/ 355 h 379"/>
              <a:gd name="T24" fmla="*/ 378 w 430"/>
              <a:gd name="T25" fmla="*/ 378 h 379"/>
              <a:gd name="T26" fmla="*/ 406 w 430"/>
              <a:gd name="T27" fmla="*/ 378 h 379"/>
              <a:gd name="T28" fmla="*/ 429 w 430"/>
              <a:gd name="T29" fmla="*/ 355 h 379"/>
              <a:gd name="T30" fmla="*/ 429 w 430"/>
              <a:gd name="T31" fmla="*/ 164 h 379"/>
              <a:gd name="T32" fmla="*/ 378 w 430"/>
              <a:gd name="T33" fmla="*/ 22 h 379"/>
              <a:gd name="T34" fmla="*/ 82 w 430"/>
              <a:gd name="T35" fmla="*/ 259 h 379"/>
              <a:gd name="T36" fmla="*/ 46 w 430"/>
              <a:gd name="T37" fmla="*/ 223 h 379"/>
              <a:gd name="T38" fmla="*/ 82 w 430"/>
              <a:gd name="T39" fmla="*/ 186 h 379"/>
              <a:gd name="T40" fmla="*/ 119 w 430"/>
              <a:gd name="T41" fmla="*/ 223 h 379"/>
              <a:gd name="T42" fmla="*/ 82 w 430"/>
              <a:gd name="T43" fmla="*/ 259 h 379"/>
              <a:gd name="T44" fmla="*/ 346 w 430"/>
              <a:gd name="T45" fmla="*/ 259 h 379"/>
              <a:gd name="T46" fmla="*/ 310 w 430"/>
              <a:gd name="T47" fmla="*/ 223 h 379"/>
              <a:gd name="T48" fmla="*/ 346 w 430"/>
              <a:gd name="T49" fmla="*/ 186 h 379"/>
              <a:gd name="T50" fmla="*/ 378 w 430"/>
              <a:gd name="T51" fmla="*/ 223 h 379"/>
              <a:gd name="T52" fmla="*/ 346 w 430"/>
              <a:gd name="T53" fmla="*/ 259 h 379"/>
              <a:gd name="T54" fmla="*/ 46 w 430"/>
              <a:gd name="T55" fmla="*/ 141 h 379"/>
              <a:gd name="T56" fmla="*/ 82 w 430"/>
              <a:gd name="T57" fmla="*/ 31 h 379"/>
              <a:gd name="T58" fmla="*/ 346 w 430"/>
              <a:gd name="T59" fmla="*/ 31 h 379"/>
              <a:gd name="T60" fmla="*/ 378 w 430"/>
              <a:gd name="T61" fmla="*/ 141 h 379"/>
              <a:gd name="T62" fmla="*/ 46 w 430"/>
              <a:gd name="T63" fmla="*/ 141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0" h="379">
                <a:moveTo>
                  <a:pt x="378" y="22"/>
                </a:moveTo>
                <a:cubicBezTo>
                  <a:pt x="374" y="9"/>
                  <a:pt x="360" y="0"/>
                  <a:pt x="346" y="0"/>
                </a:cubicBezTo>
                <a:lnTo>
                  <a:pt x="82" y="0"/>
                </a:lnTo>
                <a:cubicBezTo>
                  <a:pt x="64" y="0"/>
                  <a:pt x="55" y="9"/>
                  <a:pt x="50" y="22"/>
                </a:cubicBezTo>
                <a:lnTo>
                  <a:pt x="0" y="164"/>
                </a:lnTo>
                <a:lnTo>
                  <a:pt x="0" y="355"/>
                </a:lnTo>
                <a:cubicBezTo>
                  <a:pt x="0" y="369"/>
                  <a:pt x="9" y="378"/>
                  <a:pt x="23" y="378"/>
                </a:cubicBezTo>
                <a:lnTo>
                  <a:pt x="46" y="378"/>
                </a:lnTo>
                <a:cubicBezTo>
                  <a:pt x="59" y="378"/>
                  <a:pt x="69" y="369"/>
                  <a:pt x="69" y="355"/>
                </a:cubicBezTo>
                <a:lnTo>
                  <a:pt x="69" y="332"/>
                </a:lnTo>
                <a:lnTo>
                  <a:pt x="356" y="332"/>
                </a:lnTo>
                <a:lnTo>
                  <a:pt x="356" y="355"/>
                </a:lnTo>
                <a:cubicBezTo>
                  <a:pt x="356" y="369"/>
                  <a:pt x="365" y="378"/>
                  <a:pt x="378" y="378"/>
                </a:cubicBezTo>
                <a:lnTo>
                  <a:pt x="406" y="378"/>
                </a:lnTo>
                <a:cubicBezTo>
                  <a:pt x="419" y="378"/>
                  <a:pt x="429" y="369"/>
                  <a:pt x="429" y="355"/>
                </a:cubicBezTo>
                <a:lnTo>
                  <a:pt x="429" y="164"/>
                </a:lnTo>
                <a:lnTo>
                  <a:pt x="378" y="22"/>
                </a:lnTo>
                <a:close/>
                <a:moveTo>
                  <a:pt x="82" y="259"/>
                </a:moveTo>
                <a:cubicBezTo>
                  <a:pt x="64" y="259"/>
                  <a:pt x="46" y="241"/>
                  <a:pt x="46" y="223"/>
                </a:cubicBezTo>
                <a:cubicBezTo>
                  <a:pt x="46" y="205"/>
                  <a:pt x="64" y="186"/>
                  <a:pt x="82" y="186"/>
                </a:cubicBezTo>
                <a:cubicBezTo>
                  <a:pt x="100" y="186"/>
                  <a:pt x="119" y="205"/>
                  <a:pt x="119" y="223"/>
                </a:cubicBezTo>
                <a:cubicBezTo>
                  <a:pt x="119" y="241"/>
                  <a:pt x="100" y="259"/>
                  <a:pt x="82" y="259"/>
                </a:cubicBezTo>
                <a:close/>
                <a:moveTo>
                  <a:pt x="346" y="259"/>
                </a:moveTo>
                <a:cubicBezTo>
                  <a:pt x="324" y="259"/>
                  <a:pt x="310" y="241"/>
                  <a:pt x="310" y="223"/>
                </a:cubicBezTo>
                <a:cubicBezTo>
                  <a:pt x="310" y="205"/>
                  <a:pt x="326" y="186"/>
                  <a:pt x="346" y="186"/>
                </a:cubicBezTo>
                <a:cubicBezTo>
                  <a:pt x="367" y="186"/>
                  <a:pt x="378" y="205"/>
                  <a:pt x="378" y="223"/>
                </a:cubicBezTo>
                <a:cubicBezTo>
                  <a:pt x="378" y="241"/>
                  <a:pt x="365" y="259"/>
                  <a:pt x="346" y="259"/>
                </a:cubicBezTo>
                <a:close/>
                <a:moveTo>
                  <a:pt x="46" y="141"/>
                </a:moveTo>
                <a:lnTo>
                  <a:pt x="82" y="31"/>
                </a:lnTo>
                <a:lnTo>
                  <a:pt x="346" y="31"/>
                </a:lnTo>
                <a:lnTo>
                  <a:pt x="378" y="141"/>
                </a:lnTo>
                <a:lnTo>
                  <a:pt x="46" y="141"/>
                </a:lnTo>
                <a:close/>
              </a:path>
            </a:pathLst>
          </a:custGeom>
          <a:solidFill>
            <a:schemeClr val="bg1"/>
          </a:solidFill>
          <a:ln>
            <a:noFill/>
          </a:ln>
          <a:effectLst/>
        </p:spPr>
        <p:txBody>
          <a:bodyPr wrap="none" anchor="ctr"/>
          <a:lstStyle/>
          <a:p>
            <a:endParaRPr lang="en-US"/>
          </a:p>
        </p:txBody>
      </p:sp>
      <p:sp>
        <p:nvSpPr>
          <p:cNvPr id="23" name="Oval 31">
            <a:extLst>
              <a:ext uri="{FF2B5EF4-FFF2-40B4-BE49-F238E27FC236}">
                <a16:creationId xmlns:a16="http://schemas.microsoft.com/office/drawing/2014/main" id="{AEAAD09A-758E-458A-A6C5-D5E37E695297}"/>
              </a:ext>
            </a:extLst>
          </p:cNvPr>
          <p:cNvSpPr>
            <a:spLocks noChangeAspect="1"/>
          </p:cNvSpPr>
          <p:nvPr/>
        </p:nvSpPr>
        <p:spPr>
          <a:xfrm>
            <a:off x="5658804" y="1071684"/>
            <a:ext cx="1151456" cy="1151456"/>
          </a:xfrm>
          <a:prstGeom prst="ellipse">
            <a:avLst/>
          </a:prstGeom>
          <a:solidFill>
            <a:schemeClr val="accent6"/>
          </a:solidFill>
          <a:ln w="12700">
            <a:noFill/>
          </a:ln>
          <a:effectLst>
            <a:outerShdw blurRad="50800" dist="25400" dir="5400000" algn="ctr"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4" name="Image 23">
            <a:extLst>
              <a:ext uri="{FF2B5EF4-FFF2-40B4-BE49-F238E27FC236}">
                <a16:creationId xmlns:a16="http://schemas.microsoft.com/office/drawing/2014/main" id="{CEAD4E76-E8B2-4E6F-B274-16DCE46F9A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7331" y="1190212"/>
            <a:ext cx="914400" cy="914400"/>
          </a:xfrm>
          <a:prstGeom prst="rect">
            <a:avLst/>
          </a:prstGeom>
        </p:spPr>
      </p:pic>
      <p:sp>
        <p:nvSpPr>
          <p:cNvPr id="28" name="TextBox 33">
            <a:extLst>
              <a:ext uri="{FF2B5EF4-FFF2-40B4-BE49-F238E27FC236}">
                <a16:creationId xmlns:a16="http://schemas.microsoft.com/office/drawing/2014/main" id="{779B0C39-AC35-4BF2-B9E8-1AD32CED06DF}"/>
              </a:ext>
            </a:extLst>
          </p:cNvPr>
          <p:cNvSpPr txBox="1"/>
          <p:nvPr/>
        </p:nvSpPr>
        <p:spPr>
          <a:xfrm>
            <a:off x="8533204" y="2300754"/>
            <a:ext cx="3329284" cy="584775"/>
          </a:xfrm>
          <a:prstGeom prst="rect">
            <a:avLst/>
          </a:prstGeom>
          <a:noFill/>
        </p:spPr>
        <p:txBody>
          <a:bodyPr wrap="square" rtlCol="0">
            <a:spAutoFit/>
          </a:bodyPr>
          <a:lstStyle/>
          <a:p>
            <a:pPr algn="ctr"/>
            <a:r>
              <a:rPr lang="en-US" sz="1600" dirty="0" err="1">
                <a:latin typeface="Roboto Light" charset="0"/>
                <a:ea typeface="Roboto Light" charset="0"/>
                <a:cs typeface="Roboto Light" charset="0"/>
              </a:rPr>
              <a:t>Suivi</a:t>
            </a:r>
            <a:r>
              <a:rPr lang="en-US" sz="1600" dirty="0">
                <a:latin typeface="Roboto Light" charset="0"/>
                <a:ea typeface="Roboto Light" charset="0"/>
                <a:cs typeface="Roboto Light" charset="0"/>
              </a:rPr>
              <a:t> </a:t>
            </a:r>
            <a:r>
              <a:rPr lang="en-US" sz="1600" dirty="0" err="1">
                <a:latin typeface="Roboto Light" charset="0"/>
                <a:ea typeface="Roboto Light" charset="0"/>
                <a:cs typeface="Roboto Light" charset="0"/>
              </a:rPr>
              <a:t>étroit</a:t>
            </a:r>
            <a:r>
              <a:rPr lang="en-US" sz="1600" dirty="0">
                <a:latin typeface="Roboto Light" charset="0"/>
                <a:ea typeface="Roboto Light" charset="0"/>
                <a:cs typeface="Roboto Light" charset="0"/>
              </a:rPr>
              <a:t> </a:t>
            </a:r>
            <a:r>
              <a:rPr lang="en-US" sz="1600" dirty="0" err="1">
                <a:latin typeface="Roboto Light" charset="0"/>
                <a:ea typeface="Roboto Light" charset="0"/>
                <a:cs typeface="Roboto Light" charset="0"/>
              </a:rPr>
              <a:t>basé</a:t>
            </a:r>
            <a:r>
              <a:rPr lang="en-US" sz="1600" dirty="0">
                <a:latin typeface="Roboto Light" charset="0"/>
                <a:ea typeface="Roboto Light" charset="0"/>
                <a:cs typeface="Roboto Light" charset="0"/>
              </a:rPr>
              <a:t> sur le cahier des charges</a:t>
            </a:r>
          </a:p>
        </p:txBody>
      </p:sp>
      <p:sp>
        <p:nvSpPr>
          <p:cNvPr id="29" name="Freeform 41">
            <a:extLst>
              <a:ext uri="{FF2B5EF4-FFF2-40B4-BE49-F238E27FC236}">
                <a16:creationId xmlns:a16="http://schemas.microsoft.com/office/drawing/2014/main" id="{EB7A53B9-F5EF-4E41-A6E9-590EBBA472CF}"/>
              </a:ext>
            </a:extLst>
          </p:cNvPr>
          <p:cNvSpPr>
            <a:spLocks noChangeArrowheads="1"/>
          </p:cNvSpPr>
          <p:nvPr/>
        </p:nvSpPr>
        <p:spPr bwMode="auto">
          <a:xfrm>
            <a:off x="9985156" y="1471905"/>
            <a:ext cx="400859" cy="351774"/>
          </a:xfrm>
          <a:custGeom>
            <a:avLst/>
            <a:gdLst>
              <a:gd name="T0" fmla="*/ 378 w 430"/>
              <a:gd name="T1" fmla="*/ 22 h 379"/>
              <a:gd name="T2" fmla="*/ 346 w 430"/>
              <a:gd name="T3" fmla="*/ 0 h 379"/>
              <a:gd name="T4" fmla="*/ 82 w 430"/>
              <a:gd name="T5" fmla="*/ 0 h 379"/>
              <a:gd name="T6" fmla="*/ 50 w 430"/>
              <a:gd name="T7" fmla="*/ 22 h 379"/>
              <a:gd name="T8" fmla="*/ 0 w 430"/>
              <a:gd name="T9" fmla="*/ 164 h 379"/>
              <a:gd name="T10" fmla="*/ 0 w 430"/>
              <a:gd name="T11" fmla="*/ 355 h 379"/>
              <a:gd name="T12" fmla="*/ 23 w 430"/>
              <a:gd name="T13" fmla="*/ 378 h 379"/>
              <a:gd name="T14" fmla="*/ 46 w 430"/>
              <a:gd name="T15" fmla="*/ 378 h 379"/>
              <a:gd name="T16" fmla="*/ 69 w 430"/>
              <a:gd name="T17" fmla="*/ 355 h 379"/>
              <a:gd name="T18" fmla="*/ 69 w 430"/>
              <a:gd name="T19" fmla="*/ 332 h 379"/>
              <a:gd name="T20" fmla="*/ 356 w 430"/>
              <a:gd name="T21" fmla="*/ 332 h 379"/>
              <a:gd name="T22" fmla="*/ 356 w 430"/>
              <a:gd name="T23" fmla="*/ 355 h 379"/>
              <a:gd name="T24" fmla="*/ 378 w 430"/>
              <a:gd name="T25" fmla="*/ 378 h 379"/>
              <a:gd name="T26" fmla="*/ 406 w 430"/>
              <a:gd name="T27" fmla="*/ 378 h 379"/>
              <a:gd name="T28" fmla="*/ 429 w 430"/>
              <a:gd name="T29" fmla="*/ 355 h 379"/>
              <a:gd name="T30" fmla="*/ 429 w 430"/>
              <a:gd name="T31" fmla="*/ 164 h 379"/>
              <a:gd name="T32" fmla="*/ 378 w 430"/>
              <a:gd name="T33" fmla="*/ 22 h 379"/>
              <a:gd name="T34" fmla="*/ 82 w 430"/>
              <a:gd name="T35" fmla="*/ 259 h 379"/>
              <a:gd name="T36" fmla="*/ 46 w 430"/>
              <a:gd name="T37" fmla="*/ 223 h 379"/>
              <a:gd name="T38" fmla="*/ 82 w 430"/>
              <a:gd name="T39" fmla="*/ 186 h 379"/>
              <a:gd name="T40" fmla="*/ 119 w 430"/>
              <a:gd name="T41" fmla="*/ 223 h 379"/>
              <a:gd name="T42" fmla="*/ 82 w 430"/>
              <a:gd name="T43" fmla="*/ 259 h 379"/>
              <a:gd name="T44" fmla="*/ 346 w 430"/>
              <a:gd name="T45" fmla="*/ 259 h 379"/>
              <a:gd name="T46" fmla="*/ 310 w 430"/>
              <a:gd name="T47" fmla="*/ 223 h 379"/>
              <a:gd name="T48" fmla="*/ 346 w 430"/>
              <a:gd name="T49" fmla="*/ 186 h 379"/>
              <a:gd name="T50" fmla="*/ 378 w 430"/>
              <a:gd name="T51" fmla="*/ 223 h 379"/>
              <a:gd name="T52" fmla="*/ 346 w 430"/>
              <a:gd name="T53" fmla="*/ 259 h 379"/>
              <a:gd name="T54" fmla="*/ 46 w 430"/>
              <a:gd name="T55" fmla="*/ 141 h 379"/>
              <a:gd name="T56" fmla="*/ 82 w 430"/>
              <a:gd name="T57" fmla="*/ 31 h 379"/>
              <a:gd name="T58" fmla="*/ 346 w 430"/>
              <a:gd name="T59" fmla="*/ 31 h 379"/>
              <a:gd name="T60" fmla="*/ 378 w 430"/>
              <a:gd name="T61" fmla="*/ 141 h 379"/>
              <a:gd name="T62" fmla="*/ 46 w 430"/>
              <a:gd name="T63" fmla="*/ 141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0" h="379">
                <a:moveTo>
                  <a:pt x="378" y="22"/>
                </a:moveTo>
                <a:cubicBezTo>
                  <a:pt x="374" y="9"/>
                  <a:pt x="360" y="0"/>
                  <a:pt x="346" y="0"/>
                </a:cubicBezTo>
                <a:lnTo>
                  <a:pt x="82" y="0"/>
                </a:lnTo>
                <a:cubicBezTo>
                  <a:pt x="64" y="0"/>
                  <a:pt x="55" y="9"/>
                  <a:pt x="50" y="22"/>
                </a:cubicBezTo>
                <a:lnTo>
                  <a:pt x="0" y="164"/>
                </a:lnTo>
                <a:lnTo>
                  <a:pt x="0" y="355"/>
                </a:lnTo>
                <a:cubicBezTo>
                  <a:pt x="0" y="369"/>
                  <a:pt x="9" y="378"/>
                  <a:pt x="23" y="378"/>
                </a:cubicBezTo>
                <a:lnTo>
                  <a:pt x="46" y="378"/>
                </a:lnTo>
                <a:cubicBezTo>
                  <a:pt x="59" y="378"/>
                  <a:pt x="69" y="369"/>
                  <a:pt x="69" y="355"/>
                </a:cubicBezTo>
                <a:lnTo>
                  <a:pt x="69" y="332"/>
                </a:lnTo>
                <a:lnTo>
                  <a:pt x="356" y="332"/>
                </a:lnTo>
                <a:lnTo>
                  <a:pt x="356" y="355"/>
                </a:lnTo>
                <a:cubicBezTo>
                  <a:pt x="356" y="369"/>
                  <a:pt x="365" y="378"/>
                  <a:pt x="378" y="378"/>
                </a:cubicBezTo>
                <a:lnTo>
                  <a:pt x="406" y="378"/>
                </a:lnTo>
                <a:cubicBezTo>
                  <a:pt x="419" y="378"/>
                  <a:pt x="429" y="369"/>
                  <a:pt x="429" y="355"/>
                </a:cubicBezTo>
                <a:lnTo>
                  <a:pt x="429" y="164"/>
                </a:lnTo>
                <a:lnTo>
                  <a:pt x="378" y="22"/>
                </a:lnTo>
                <a:close/>
                <a:moveTo>
                  <a:pt x="82" y="259"/>
                </a:moveTo>
                <a:cubicBezTo>
                  <a:pt x="64" y="259"/>
                  <a:pt x="46" y="241"/>
                  <a:pt x="46" y="223"/>
                </a:cubicBezTo>
                <a:cubicBezTo>
                  <a:pt x="46" y="205"/>
                  <a:pt x="64" y="186"/>
                  <a:pt x="82" y="186"/>
                </a:cubicBezTo>
                <a:cubicBezTo>
                  <a:pt x="100" y="186"/>
                  <a:pt x="119" y="205"/>
                  <a:pt x="119" y="223"/>
                </a:cubicBezTo>
                <a:cubicBezTo>
                  <a:pt x="119" y="241"/>
                  <a:pt x="100" y="259"/>
                  <a:pt x="82" y="259"/>
                </a:cubicBezTo>
                <a:close/>
                <a:moveTo>
                  <a:pt x="346" y="259"/>
                </a:moveTo>
                <a:cubicBezTo>
                  <a:pt x="324" y="259"/>
                  <a:pt x="310" y="241"/>
                  <a:pt x="310" y="223"/>
                </a:cubicBezTo>
                <a:cubicBezTo>
                  <a:pt x="310" y="205"/>
                  <a:pt x="326" y="186"/>
                  <a:pt x="346" y="186"/>
                </a:cubicBezTo>
                <a:cubicBezTo>
                  <a:pt x="367" y="186"/>
                  <a:pt x="378" y="205"/>
                  <a:pt x="378" y="223"/>
                </a:cubicBezTo>
                <a:cubicBezTo>
                  <a:pt x="378" y="241"/>
                  <a:pt x="365" y="259"/>
                  <a:pt x="346" y="259"/>
                </a:cubicBezTo>
                <a:close/>
                <a:moveTo>
                  <a:pt x="46" y="141"/>
                </a:moveTo>
                <a:lnTo>
                  <a:pt x="82" y="31"/>
                </a:lnTo>
                <a:lnTo>
                  <a:pt x="346" y="31"/>
                </a:lnTo>
                <a:lnTo>
                  <a:pt x="378" y="141"/>
                </a:lnTo>
                <a:lnTo>
                  <a:pt x="46" y="141"/>
                </a:lnTo>
                <a:close/>
              </a:path>
            </a:pathLst>
          </a:custGeom>
          <a:solidFill>
            <a:schemeClr val="bg1"/>
          </a:solidFill>
          <a:ln>
            <a:noFill/>
          </a:ln>
          <a:effectLst/>
        </p:spPr>
        <p:txBody>
          <a:bodyPr wrap="none" anchor="ctr"/>
          <a:lstStyle/>
          <a:p>
            <a:endParaRPr lang="en-US"/>
          </a:p>
        </p:txBody>
      </p:sp>
      <p:sp>
        <p:nvSpPr>
          <p:cNvPr id="30" name="Oval 31">
            <a:extLst>
              <a:ext uri="{FF2B5EF4-FFF2-40B4-BE49-F238E27FC236}">
                <a16:creationId xmlns:a16="http://schemas.microsoft.com/office/drawing/2014/main" id="{B3BCA845-998B-487C-9AC9-36E87967AD2E}"/>
              </a:ext>
            </a:extLst>
          </p:cNvPr>
          <p:cNvSpPr>
            <a:spLocks noChangeAspect="1"/>
          </p:cNvSpPr>
          <p:nvPr/>
        </p:nvSpPr>
        <p:spPr>
          <a:xfrm>
            <a:off x="9622119" y="1072064"/>
            <a:ext cx="1151456" cy="1151456"/>
          </a:xfrm>
          <a:prstGeom prst="ellipse">
            <a:avLst/>
          </a:prstGeom>
          <a:solidFill>
            <a:schemeClr val="accent6"/>
          </a:solidFill>
          <a:ln w="12700">
            <a:noFill/>
          </a:ln>
          <a:effectLst>
            <a:outerShdw blurRad="50800" dist="25400" dir="5400000" algn="ctr"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1" name="Image 30">
            <a:extLst>
              <a:ext uri="{FF2B5EF4-FFF2-40B4-BE49-F238E27FC236}">
                <a16:creationId xmlns:a16="http://schemas.microsoft.com/office/drawing/2014/main" id="{3A7424B1-227F-4748-AE87-2FC24034C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0646" y="1190592"/>
            <a:ext cx="914400" cy="914400"/>
          </a:xfrm>
          <a:prstGeom prst="rect">
            <a:avLst/>
          </a:prstGeom>
        </p:spPr>
      </p:pic>
      <p:sp>
        <p:nvSpPr>
          <p:cNvPr id="54" name="TextBox 33">
            <a:extLst>
              <a:ext uri="{FF2B5EF4-FFF2-40B4-BE49-F238E27FC236}">
                <a16:creationId xmlns:a16="http://schemas.microsoft.com/office/drawing/2014/main" id="{982859C8-5A1A-4D85-BE19-12E113EC9E7F}"/>
              </a:ext>
            </a:extLst>
          </p:cNvPr>
          <p:cNvSpPr txBox="1"/>
          <p:nvPr/>
        </p:nvSpPr>
        <p:spPr>
          <a:xfrm>
            <a:off x="4688416" y="3309404"/>
            <a:ext cx="3329284" cy="369332"/>
          </a:xfrm>
          <a:prstGeom prst="rect">
            <a:avLst/>
          </a:prstGeom>
          <a:noFill/>
        </p:spPr>
        <p:txBody>
          <a:bodyPr wrap="square" rtlCol="0">
            <a:spAutoFit/>
          </a:bodyPr>
          <a:lstStyle/>
          <a:p>
            <a:r>
              <a:rPr lang="fr-FR" b="1" u="sng" dirty="0"/>
              <a:t>Standards pour l’implémentation</a:t>
            </a:r>
          </a:p>
        </p:txBody>
      </p:sp>
      <p:pic>
        <p:nvPicPr>
          <p:cNvPr id="67" name="Image 66" descr="Automatisation de la chaîne CI/CD (intégration continue/déploiement continu)  - Agence du Numérique de la Sécurité Civile">
            <a:extLst>
              <a:ext uri="{FF2B5EF4-FFF2-40B4-BE49-F238E27FC236}">
                <a16:creationId xmlns:a16="http://schemas.microsoft.com/office/drawing/2014/main" id="{E6D4AED0-0617-4246-A492-AE920C9F5FFE}"/>
              </a:ext>
            </a:extLst>
          </p:cNvPr>
          <p:cNvPicPr/>
          <p:nvPr/>
        </p:nvPicPr>
        <p:blipFill>
          <a:blip r:embed="rId4"/>
          <a:srcRect/>
          <a:stretch>
            <a:fillRect/>
          </a:stretch>
        </p:blipFill>
        <p:spPr>
          <a:xfrm>
            <a:off x="4049890" y="3591297"/>
            <a:ext cx="4745620" cy="3000003"/>
          </a:xfrm>
          <a:prstGeom prst="rect">
            <a:avLst/>
          </a:prstGeom>
          <a:noFill/>
          <a:ln>
            <a:noFill/>
            <a:prstDash/>
          </a:ln>
        </p:spPr>
      </p:pic>
    </p:spTree>
    <p:extLst>
      <p:ext uri="{BB962C8B-B14F-4D97-AF65-F5344CB8AC3E}">
        <p14:creationId xmlns:p14="http://schemas.microsoft.com/office/powerpoint/2010/main" val="10346427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00"/>
                                        <p:tgtEl>
                                          <p:spTgt spid="55"/>
                                        </p:tgtEl>
                                      </p:cBhvr>
                                    </p:animEffect>
                                  </p:childTnLst>
                                </p:cTn>
                              </p:par>
                              <p:par>
                                <p:cTn id="14" presetID="10" presetClass="entr" presetSubtype="0" fill="hold" nodeType="with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fade">
                                      <p:cBhvr>
                                        <p:cTn id="16" dur="500"/>
                                        <p:tgtEl>
                                          <p:spTgt spid="5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par>
                                <p:cTn id="47" presetID="10"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500"/>
                                        <p:tgtEl>
                                          <p:spTgt spid="3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fade">
                                      <p:cBhvr>
                                        <p:cTn id="5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1" grpId="0" animBg="1"/>
      <p:bldP spid="55" grpId="0" animBg="1"/>
      <p:bldP spid="20" grpId="0"/>
      <p:bldP spid="21" grpId="0"/>
      <p:bldP spid="22" grpId="0" animBg="1"/>
      <p:bldP spid="23" grpId="0" animBg="1"/>
      <p:bldP spid="28" grpId="0"/>
      <p:bldP spid="29" grpId="0" animBg="1"/>
      <p:bldP spid="30" grpId="0" animBg="1"/>
      <p:bldP spid="5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13</a:t>
            </a:fld>
            <a:endParaRPr lang="en-US"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307777"/>
          </a:xfrm>
          <a:prstGeom prst="rect">
            <a:avLst/>
          </a:prstGeom>
          <a:noFill/>
        </p:spPr>
        <p:txBody>
          <a:bodyPr wrap="square" rtlCol="0">
            <a:spAutoFit/>
          </a:bodyPr>
          <a:lstStyle/>
          <a:p>
            <a:pPr marL="380990" indent="-380990">
              <a:buClr>
                <a:schemeClr val="accent2"/>
              </a:buClr>
              <a:buFont typeface="+mj-lt"/>
              <a:buAutoNum type="arabicPeriod"/>
            </a:pPr>
            <a:r>
              <a:rPr lang="en-US" sz="1400" dirty="0">
                <a:solidFill>
                  <a:schemeClr val="bg1"/>
                </a:solidFill>
                <a:latin typeface="Roboto Light" charset="0"/>
                <a:ea typeface="Roboto Light" charset="0"/>
                <a:cs typeface="Roboto Light" charset="0"/>
              </a:rPr>
              <a:t>Conditions </a:t>
            </a:r>
            <a:r>
              <a:rPr lang="en-US" sz="1400" dirty="0" err="1">
                <a:solidFill>
                  <a:schemeClr val="bg1"/>
                </a:solidFill>
                <a:latin typeface="Roboto Light" charset="0"/>
                <a:ea typeface="Roboto Light" charset="0"/>
                <a:cs typeface="Roboto Light" charset="0"/>
              </a:rPr>
              <a:t>requises</a:t>
            </a:r>
            <a:endParaRPr lang="en-US" sz="1400" dirty="0">
              <a:solidFill>
                <a:schemeClr val="bg1"/>
              </a:solidFill>
              <a:latin typeface="Roboto Light" charset="0"/>
              <a:ea typeface="Roboto Light" charset="0"/>
              <a:cs typeface="Roboto Light" charset="0"/>
            </a:endParaRPr>
          </a:p>
        </p:txBody>
      </p:sp>
      <p:sp>
        <p:nvSpPr>
          <p:cNvPr id="20" name="TextBox 33">
            <a:extLst>
              <a:ext uri="{FF2B5EF4-FFF2-40B4-BE49-F238E27FC236}">
                <a16:creationId xmlns:a16="http://schemas.microsoft.com/office/drawing/2014/main" id="{B9FAA703-1D1F-408B-B7E0-FB8D2AB9D709}"/>
              </a:ext>
            </a:extLst>
          </p:cNvPr>
          <p:cNvSpPr txBox="1"/>
          <p:nvPr/>
        </p:nvSpPr>
        <p:spPr>
          <a:xfrm>
            <a:off x="4049891" y="454070"/>
            <a:ext cx="4745619" cy="369332"/>
          </a:xfrm>
          <a:prstGeom prst="rect">
            <a:avLst/>
          </a:prstGeom>
          <a:noFill/>
        </p:spPr>
        <p:txBody>
          <a:bodyPr wrap="square" rtlCol="0">
            <a:spAutoFit/>
          </a:bodyPr>
          <a:lstStyle/>
          <a:p>
            <a:r>
              <a:rPr lang="fr-FR" b="1" dirty="0"/>
              <a:t>Conditions requises pour l’interopérabilité</a:t>
            </a:r>
          </a:p>
        </p:txBody>
      </p:sp>
      <p:pic>
        <p:nvPicPr>
          <p:cNvPr id="25" name="Image 24" descr="L'interopérabilité, une condition nécessaire au développement du numérique  en santé ?">
            <a:extLst>
              <a:ext uri="{FF2B5EF4-FFF2-40B4-BE49-F238E27FC236}">
                <a16:creationId xmlns:a16="http://schemas.microsoft.com/office/drawing/2014/main" id="{F92E337E-9902-4E44-811B-BBDF52750570}"/>
              </a:ext>
            </a:extLst>
          </p:cNvPr>
          <p:cNvPicPr/>
          <p:nvPr/>
        </p:nvPicPr>
        <p:blipFill>
          <a:blip r:embed="rId3"/>
          <a:srcRect/>
          <a:stretch>
            <a:fillRect/>
          </a:stretch>
        </p:blipFill>
        <p:spPr>
          <a:xfrm>
            <a:off x="3124200" y="823402"/>
            <a:ext cx="5943600" cy="4199890"/>
          </a:xfrm>
          <a:prstGeom prst="rect">
            <a:avLst/>
          </a:prstGeom>
          <a:noFill/>
          <a:ln>
            <a:noFill/>
            <a:prstDash/>
          </a:ln>
        </p:spPr>
      </p:pic>
    </p:spTree>
    <p:extLst>
      <p:ext uri="{BB962C8B-B14F-4D97-AF65-F5344CB8AC3E}">
        <p14:creationId xmlns:p14="http://schemas.microsoft.com/office/powerpoint/2010/main" val="13273720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reeform 37">
            <a:extLst>
              <a:ext uri="{FF2B5EF4-FFF2-40B4-BE49-F238E27FC236}">
                <a16:creationId xmlns:a16="http://schemas.microsoft.com/office/drawing/2014/main" id="{C9660DDB-F7C9-4EB5-94B6-0137E8570FA2}"/>
              </a:ext>
            </a:extLst>
          </p:cNvPr>
          <p:cNvSpPr/>
          <p:nvPr/>
        </p:nvSpPr>
        <p:spPr>
          <a:xfrm rot="18900000">
            <a:off x="536614" y="5581005"/>
            <a:ext cx="2553990" cy="2553991"/>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36">
            <a:extLst>
              <a:ext uri="{FF2B5EF4-FFF2-40B4-BE49-F238E27FC236}">
                <a16:creationId xmlns:a16="http://schemas.microsoft.com/office/drawing/2014/main" id="{794AC913-3F08-4F79-9460-8BC8C1F336B3}"/>
              </a:ext>
            </a:extLst>
          </p:cNvPr>
          <p:cNvSpPr/>
          <p:nvPr/>
        </p:nvSpPr>
        <p:spPr>
          <a:xfrm rot="18900000">
            <a:off x="-1135325" y="3708715"/>
            <a:ext cx="2559410" cy="2967775"/>
          </a:xfrm>
          <a:custGeom>
            <a:avLst/>
            <a:gdLst>
              <a:gd name="connsiteX0" fmla="*/ 2559410 w 2559410"/>
              <a:gd name="connsiteY0" fmla="*/ 0 h 2967775"/>
              <a:gd name="connsiteX1" fmla="*/ 2559410 w 2559410"/>
              <a:gd name="connsiteY1" fmla="*/ 2967775 h 2967775"/>
              <a:gd name="connsiteX2" fmla="*/ 408364 w 2559410"/>
              <a:gd name="connsiteY2" fmla="*/ 2967774 h 2967775"/>
              <a:gd name="connsiteX3" fmla="*/ 0 w 2559410"/>
              <a:gd name="connsiteY3" fmla="*/ 2559411 h 2967775"/>
            </a:gdLst>
            <a:ahLst/>
            <a:cxnLst>
              <a:cxn ang="0">
                <a:pos x="connsiteX0" y="connsiteY0"/>
              </a:cxn>
              <a:cxn ang="0">
                <a:pos x="connsiteX1" y="connsiteY1"/>
              </a:cxn>
              <a:cxn ang="0">
                <a:pos x="connsiteX2" y="connsiteY2"/>
              </a:cxn>
              <a:cxn ang="0">
                <a:pos x="connsiteX3" y="connsiteY3"/>
              </a:cxn>
            </a:cxnLst>
            <a:rect l="l" t="t" r="r" b="b"/>
            <a:pathLst>
              <a:path w="2559410" h="2967775">
                <a:moveTo>
                  <a:pt x="2559410" y="0"/>
                </a:moveTo>
                <a:lnTo>
                  <a:pt x="2559410" y="2967775"/>
                </a:lnTo>
                <a:lnTo>
                  <a:pt x="408364" y="2967774"/>
                </a:lnTo>
                <a:lnTo>
                  <a:pt x="0" y="2559411"/>
                </a:lnTo>
                <a:close/>
              </a:path>
            </a:pathLst>
          </a:custGeom>
          <a:solidFill>
            <a:schemeClr val="tx2"/>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Slide Number Placeholder 3">
            <a:extLst>
              <a:ext uri="{FF2B5EF4-FFF2-40B4-BE49-F238E27FC236}">
                <a16:creationId xmlns:a16="http://schemas.microsoft.com/office/drawing/2014/main" id="{FA3F876B-DE5F-4D25-AFD4-E78C42F41159}"/>
              </a:ext>
            </a:extLst>
          </p:cNvPr>
          <p:cNvSpPr txBox="1">
            <a:spLocks/>
          </p:cNvSpPr>
          <p:nvPr/>
        </p:nvSpPr>
        <p:spPr>
          <a:xfrm>
            <a:off x="11637963" y="6226175"/>
            <a:ext cx="55403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6C95AE-7298-45E1-9514-94AFF5BED89B}" type="slidenum">
              <a:rPr lang="en-US" smtClean="0"/>
              <a:pPr/>
              <a:t>14</a:t>
            </a:fld>
            <a:endParaRPr lang="en-US" dirty="0"/>
          </a:p>
        </p:txBody>
      </p:sp>
      <p:sp>
        <p:nvSpPr>
          <p:cNvPr id="41" name="Freeform 37">
            <a:extLst>
              <a:ext uri="{FF2B5EF4-FFF2-40B4-BE49-F238E27FC236}">
                <a16:creationId xmlns:a16="http://schemas.microsoft.com/office/drawing/2014/main" id="{59337808-60E6-4A49-BBAB-714F3B6BB75B}"/>
              </a:ext>
            </a:extLst>
          </p:cNvPr>
          <p:cNvSpPr/>
          <p:nvPr/>
        </p:nvSpPr>
        <p:spPr>
          <a:xfrm rot="16200000">
            <a:off x="147169" y="-152373"/>
            <a:ext cx="1991288" cy="2285625"/>
          </a:xfrm>
          <a:custGeom>
            <a:avLst/>
            <a:gdLst>
              <a:gd name="connsiteX0" fmla="*/ 2553990 w 2553990"/>
              <a:gd name="connsiteY0" fmla="*/ 0 h 2553991"/>
              <a:gd name="connsiteX1" fmla="*/ 2553990 w 2553990"/>
              <a:gd name="connsiteY1" fmla="*/ 2553991 h 2553991"/>
              <a:gd name="connsiteX2" fmla="*/ 0 w 2553990"/>
              <a:gd name="connsiteY2" fmla="*/ 0 h 2553991"/>
            </a:gdLst>
            <a:ahLst/>
            <a:cxnLst>
              <a:cxn ang="0">
                <a:pos x="connsiteX0" y="connsiteY0"/>
              </a:cxn>
              <a:cxn ang="0">
                <a:pos x="connsiteX1" y="connsiteY1"/>
              </a:cxn>
              <a:cxn ang="0">
                <a:pos x="connsiteX2" y="connsiteY2"/>
              </a:cxn>
            </a:cxnLst>
            <a:rect l="l" t="t" r="r" b="b"/>
            <a:pathLst>
              <a:path w="2553990" h="2553991">
                <a:moveTo>
                  <a:pt x="2553990" y="0"/>
                </a:moveTo>
                <a:lnTo>
                  <a:pt x="2553990" y="2553991"/>
                </a:lnTo>
                <a:lnTo>
                  <a:pt x="0" y="0"/>
                </a:lnTo>
                <a:close/>
              </a:path>
            </a:pathLst>
          </a:custGeom>
          <a:solidFill>
            <a:schemeClr val="accent6"/>
          </a:solidFill>
          <a:ln>
            <a:noFill/>
          </a:ln>
          <a:effectLst>
            <a:outerShdw blurRad="50800" dist="25400" dir="5400000" algn="t" rotWithShape="0">
              <a:prstClr val="black">
                <a:alpha val="3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ZoneTexte 42">
            <a:extLst>
              <a:ext uri="{FF2B5EF4-FFF2-40B4-BE49-F238E27FC236}">
                <a16:creationId xmlns:a16="http://schemas.microsoft.com/office/drawing/2014/main" id="{9ED6B106-5E79-456D-81FC-62FE55E73672}"/>
              </a:ext>
            </a:extLst>
          </p:cNvPr>
          <p:cNvSpPr txBox="1"/>
          <p:nvPr/>
        </p:nvSpPr>
        <p:spPr>
          <a:xfrm>
            <a:off x="-53340" y="-6157"/>
            <a:ext cx="2285626" cy="307777"/>
          </a:xfrm>
          <a:prstGeom prst="rect">
            <a:avLst/>
          </a:prstGeom>
          <a:noFill/>
        </p:spPr>
        <p:txBody>
          <a:bodyPr wrap="square" rtlCol="0">
            <a:spAutoFit/>
          </a:bodyPr>
          <a:lstStyle/>
          <a:p>
            <a:pPr>
              <a:buClr>
                <a:schemeClr val="accent2"/>
              </a:buClr>
            </a:pPr>
            <a:r>
              <a:rPr lang="en-US" sz="1400" dirty="0">
                <a:solidFill>
                  <a:schemeClr val="bg1"/>
                </a:solidFill>
                <a:latin typeface="Roboto Light" charset="0"/>
                <a:ea typeface="Roboto Light" charset="0"/>
                <a:cs typeface="Roboto Light" charset="0"/>
              </a:rPr>
              <a:t>3. </a:t>
            </a:r>
            <a:r>
              <a:rPr lang="en-US" sz="1400" dirty="0" err="1">
                <a:solidFill>
                  <a:schemeClr val="bg1"/>
                </a:solidFill>
                <a:latin typeface="Roboto Light" charset="0"/>
                <a:ea typeface="Roboto Light" charset="0"/>
                <a:cs typeface="Roboto Light" charset="0"/>
              </a:rPr>
              <a:t>Déploiement</a:t>
            </a:r>
            <a:endParaRPr lang="en-US" sz="1400" dirty="0">
              <a:solidFill>
                <a:schemeClr val="bg1"/>
              </a:solidFill>
              <a:latin typeface="Roboto Light" charset="0"/>
              <a:ea typeface="Roboto Light" charset="0"/>
              <a:cs typeface="Roboto Light" charset="0"/>
            </a:endParaRPr>
          </a:p>
        </p:txBody>
      </p:sp>
      <p:pic>
        <p:nvPicPr>
          <p:cNvPr id="3" name="Image 2">
            <a:extLst>
              <a:ext uri="{FF2B5EF4-FFF2-40B4-BE49-F238E27FC236}">
                <a16:creationId xmlns:a16="http://schemas.microsoft.com/office/drawing/2014/main" id="{29F058B5-E268-40D3-9D5B-C7B3BA8E1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3461" y="1530770"/>
            <a:ext cx="4121737" cy="4121737"/>
          </a:xfrm>
          <a:prstGeom prst="rect">
            <a:avLst/>
          </a:prstGeom>
        </p:spPr>
      </p:pic>
    </p:spTree>
    <p:extLst>
      <p:ext uri="{BB962C8B-B14F-4D97-AF65-F5344CB8AC3E}">
        <p14:creationId xmlns:p14="http://schemas.microsoft.com/office/powerpoint/2010/main" val="3177019266"/>
      </p:ext>
    </p:extLst>
  </p:cSld>
  <p:clrMapOvr>
    <a:masterClrMapping/>
  </p:clrMapOvr>
  <p:transition spd="slow">
    <p:push dir="u"/>
  </p:transition>
</p:sld>
</file>

<file path=ppt/theme/theme1.xml><?xml version="1.0" encoding="utf-8"?>
<a:theme xmlns:a="http://schemas.openxmlformats.org/drawingml/2006/main" name="Blank">
  <a:themeElements>
    <a:clrScheme name="Custom 2">
      <a:dk1>
        <a:srgbClr val="000000"/>
      </a:dk1>
      <a:lt1>
        <a:srgbClr val="FFFFFF"/>
      </a:lt1>
      <a:dk2>
        <a:srgbClr val="263238"/>
      </a:dk2>
      <a:lt2>
        <a:srgbClr val="ECEFF1"/>
      </a:lt2>
      <a:accent1>
        <a:srgbClr val="37474F"/>
      </a:accent1>
      <a:accent2>
        <a:srgbClr val="455A64"/>
      </a:accent2>
      <a:accent3>
        <a:srgbClr val="546E7A"/>
      </a:accent3>
      <a:accent4>
        <a:srgbClr val="607D8B"/>
      </a:accent4>
      <a:accent5>
        <a:srgbClr val="78909C"/>
      </a:accent5>
      <a:accent6>
        <a:srgbClr val="00E676"/>
      </a:accent6>
      <a:hlink>
        <a:srgbClr val="546E7A"/>
      </a:hlink>
      <a:folHlink>
        <a:srgbClr val="37474F"/>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effectLst>
          <a:outerShdw blurRad="50800" dist="25400" dir="5400000" algn="t" rotWithShape="0">
            <a:prstClr val="black">
              <a:alpha val="30000"/>
            </a:prstClr>
          </a:outerShdw>
          <a:softEdge rad="0"/>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sic with Circle">
  <a:themeElements>
    <a:clrScheme name="Custom 2">
      <a:dk1>
        <a:srgbClr val="000000"/>
      </a:dk1>
      <a:lt1>
        <a:srgbClr val="FFFFFF"/>
      </a:lt1>
      <a:dk2>
        <a:srgbClr val="263238"/>
      </a:dk2>
      <a:lt2>
        <a:srgbClr val="ECEFF1"/>
      </a:lt2>
      <a:accent1>
        <a:srgbClr val="37474F"/>
      </a:accent1>
      <a:accent2>
        <a:srgbClr val="455A64"/>
      </a:accent2>
      <a:accent3>
        <a:srgbClr val="546E7A"/>
      </a:accent3>
      <a:accent4>
        <a:srgbClr val="607D8B"/>
      </a:accent4>
      <a:accent5>
        <a:srgbClr val="78909C"/>
      </a:accent5>
      <a:accent6>
        <a:srgbClr val="00E676"/>
      </a:accent6>
      <a:hlink>
        <a:srgbClr val="546E7A"/>
      </a:hlink>
      <a:folHlink>
        <a:srgbClr val="37474F"/>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eaderline">
  <a:themeElements>
    <a:clrScheme name="Custom 2">
      <a:dk1>
        <a:srgbClr val="000000"/>
      </a:dk1>
      <a:lt1>
        <a:srgbClr val="FFFFFF"/>
      </a:lt1>
      <a:dk2>
        <a:srgbClr val="263238"/>
      </a:dk2>
      <a:lt2>
        <a:srgbClr val="ECEFF1"/>
      </a:lt2>
      <a:accent1>
        <a:srgbClr val="37474F"/>
      </a:accent1>
      <a:accent2>
        <a:srgbClr val="455A64"/>
      </a:accent2>
      <a:accent3>
        <a:srgbClr val="546E7A"/>
      </a:accent3>
      <a:accent4>
        <a:srgbClr val="607D8B"/>
      </a:accent4>
      <a:accent5>
        <a:srgbClr val="78909C"/>
      </a:accent5>
      <a:accent6>
        <a:srgbClr val="00E676"/>
      </a:accent6>
      <a:hlink>
        <a:srgbClr val="546E7A"/>
      </a:hlink>
      <a:folHlink>
        <a:srgbClr val="37474F"/>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effectLst>
          <a:outerShdw blurRad="50800" dist="25400" dir="5400000" algn="t" rotWithShape="0">
            <a:prstClr val="black">
              <a:alpha val="30000"/>
            </a:prstClr>
          </a:outerShdw>
          <a:softEdge rad="0"/>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47884</TotalTime>
  <Words>1357</Words>
  <Application>Microsoft Office PowerPoint</Application>
  <PresentationFormat>Grand écran</PresentationFormat>
  <Paragraphs>171</Paragraphs>
  <Slides>14</Slides>
  <Notes>14</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14</vt:i4>
      </vt:variant>
    </vt:vector>
  </HeadingPairs>
  <TitlesOfParts>
    <vt:vector size="23" baseType="lpstr">
      <vt:lpstr>Arial</vt:lpstr>
      <vt:lpstr>Calibri</vt:lpstr>
      <vt:lpstr>Noto Sans</vt:lpstr>
      <vt:lpstr>Roboto Light</vt:lpstr>
      <vt:lpstr>Roboto Medium</vt:lpstr>
      <vt:lpstr>Roboto Thin</vt:lpstr>
      <vt:lpstr>Blank</vt:lpstr>
      <vt:lpstr>Basic with Circle</vt:lpstr>
      <vt:lpstr>Headerline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Ergün Kayis</dc:creator>
  <cp:lastModifiedBy>Maxime Bentz Objectif PDA</cp:lastModifiedBy>
  <cp:revision>607</cp:revision>
  <dcterms:created xsi:type="dcterms:W3CDTF">2015-05-30T00:46:15Z</dcterms:created>
  <dcterms:modified xsi:type="dcterms:W3CDTF">2022-06-23T12:02:06Z</dcterms:modified>
</cp:coreProperties>
</file>